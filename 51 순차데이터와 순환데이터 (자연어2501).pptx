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PT Sans Narrow"/>
      <p:regular r:id="rId36"/>
      <p:bold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TSansNarrow-bold.fntdata"/><Relationship Id="rId14" Type="http://schemas.openxmlformats.org/officeDocument/2006/relationships/slide" Target="slides/slide9.xml"/><Relationship Id="rId36" Type="http://schemas.openxmlformats.org/officeDocument/2006/relationships/font" Target="fonts/PTSansNarrow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fce33e57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fce33e57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fce33e57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fce33e57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fce33e57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fce33e57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fce33e57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fce33e57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fce33e57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fce33e57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fce33e57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fce33e57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fce33e57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fce33e57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fce33e57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fce33e57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fce33e57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fce33e57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fce33e57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fce33e57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fce33e57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fce33e57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fce33e57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fce33e57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fce33e57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fce33e57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fce33e57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fce33e57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fce33e57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fce33e57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fce33e57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4fce33e57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fce33e576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4fce33e576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fce33e576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fce33e57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fce33e57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fce33e57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fce33e576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fce33e57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fce33e576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4fce33e57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fce33e576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fce33e57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fce33e576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fce33e57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fce33e57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4fce33e57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17af942f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517af942f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17af942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17af942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17af942f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17af942f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17af942f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17af942f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17af942f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17af942f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순차데이터 순환데이터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Intro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11700" y="1473850"/>
            <a:ext cx="3292800" cy="84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우리 사이트 댓글 감정 분석해보세요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헉? 그 많은걸 언제 다 읽어 보나요?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300" y="127276"/>
            <a:ext cx="4712999" cy="18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218525" y="2638875"/>
            <a:ext cx="4091400" cy="780300"/>
          </a:xfrm>
          <a:prstGeom prst="wedgeRoundRectCallout">
            <a:avLst>
              <a:gd fmla="val 58114" name="adj1"/>
              <a:gd fmla="val 3640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딥러닝으로 </a:t>
            </a:r>
            <a:r>
              <a:rPr b="1"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댓글을 분석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해서 평가가 '긍정' / '부정' 여부 판단할수 있을까?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218525" y="3553275"/>
            <a:ext cx="4091400" cy="780300"/>
          </a:xfrm>
          <a:prstGeom prst="wedgeRoundRectCallout">
            <a:avLst>
              <a:gd fmla="val 900" name="adj1"/>
              <a:gd fmla="val 110941" name="adj2"/>
              <a:gd fmla="val 0" name="adj3"/>
            </a:avLst>
          </a:prstGeom>
          <a:solidFill>
            <a:srgbClr val="FFFFFF">
              <a:alpha val="76430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글(텍스트, 자연어) 를 분석하는건 순환신경망을 통해 할수 있습니다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순차 데이터, 텍스트, 시계열 데이터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15900" y="1276600"/>
            <a:ext cx="77238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순차 데이터(Sequential Data)</a:t>
            </a: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'순서' 에 의미가 있는 데이터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예를들면 '텍스트' 나 '시계열 데이터'</a:t>
            </a:r>
            <a:b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텍스트</a:t>
            </a: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 am a boy"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"boy am a I" &lt;- 순서 없이 섞어 놓으면 말이 안된다</a:t>
            </a:r>
            <a:b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시계열 데이터 (time series data)</a:t>
            </a: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내일 온도를 예측하기 위해 지난 기간 일별 온도가 순서대로 있어야 한다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내일 주가를 예측하기 위해 지난 기간 일별 주가가 순서대로 있어야 한다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↑ 이들 데이터들은 뒤죽박죽 섞여 있다면 내일의 값을 예측할수 없다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311700" y="64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반면, CNN 과 MNIST 예제에선..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775" y="2831725"/>
            <a:ext cx="3129126" cy="197134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6364850" y="2361625"/>
            <a:ext cx="8928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모델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330700" y="3516225"/>
            <a:ext cx="7374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438" y="2551950"/>
            <a:ext cx="707400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6050" y="2730325"/>
            <a:ext cx="707400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2225" y="3412050"/>
            <a:ext cx="933825" cy="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439100" y="742525"/>
            <a:ext cx="85206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반면!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MNIST 예제를 생각해보자.  이를 신경망 모델에 전달할때는 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랜덤하게</a:t>
            </a: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섞은뒤 training / validation 세트로 나누었었다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심지어</a:t>
            </a:r>
            <a:r>
              <a:rPr lang="ko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골고루 섞어 주는것이 더 좋은 결과를 기대할수 있었다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즉, 어떤 데이터가 먼저 입력이 되어도 모델의 학습에 영향을 주지 않았다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18625" y="3463700"/>
            <a:ext cx="2094000" cy="707400"/>
          </a:xfrm>
          <a:prstGeom prst="wedgeRoundRectCallout">
            <a:avLst>
              <a:gd fmla="val -2830" name="adj1"/>
              <a:gd fmla="val -8302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어떤 생선이 먼저 입력되어도 상관 없다 (</a:t>
            </a:r>
            <a:r>
              <a:rPr lang="ko" sz="1100">
                <a:solidFill>
                  <a:srgbClr val="FF0000"/>
                </a:solidFill>
              </a:rPr>
              <a:t>순서가 중요하지 않았다</a:t>
            </a:r>
            <a:r>
              <a:rPr lang="ko" sz="1100"/>
              <a:t>)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192300" y="381300"/>
            <a:ext cx="87594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'순서'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가 중요하다면, </a:t>
            </a:r>
            <a:r>
              <a:rPr b="1" lang="ko" sz="3600">
                <a:solidFill>
                  <a:srgbClr val="98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이전의 것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을 기억해야한다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2396550" y="1407600"/>
            <a:ext cx="4092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ko" sz="16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'최고입니다' + '꼭 보세요'</a:t>
            </a:r>
            <a:endParaRPr sz="1600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ko" sz="16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'나만 당할수 없다' + '꼭 보세요'</a:t>
            </a:r>
            <a:endParaRPr sz="1600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243750" y="2571750"/>
            <a:ext cx="8354100" cy="14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모델에 입력하는 순서가 중요한 </a:t>
            </a:r>
            <a:r>
              <a:rPr b="1"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순차 데이터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는 </a:t>
            </a:r>
            <a:r>
              <a:rPr b="1"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'이전에 입력한 데이터를 기억하는 기능'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이 필요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영화 댓글에서 단순히 </a:t>
            </a:r>
            <a:r>
              <a:rPr lang="ko" sz="1600">
                <a:solidFill>
                  <a:srgbClr val="98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'꼭 보세요'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라고 입력된 단어만 갖고 '긍정적' 이라는 판단을 못내린다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311700" y="382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Feedforward Neural Network (FNN)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11700" y="659695"/>
            <a:ext cx="8750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이전에 배운, 완전연결 신경망, 합성곱 신경망 (CNN) 은 '기억장치' 가 없다.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하나의 샘플(배치)를 사용하여 </a:t>
            </a:r>
            <a:r>
              <a:rPr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정방향 계산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을 수행하면 그 샘플을 버려지고 재사용하지 않는다.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이와 같이 </a:t>
            </a:r>
            <a:r>
              <a:rPr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데이터의 흐름이 </a:t>
            </a:r>
            <a:r>
              <a:rPr b="1"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'앞으로만'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전달되는 신경망을 </a:t>
            </a:r>
            <a:r>
              <a:rPr b="1"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피드포워드신경망 (feedforward neural network:FNN)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이라고 합니다.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7817" t="17260"/>
          <a:stretch/>
        </p:blipFill>
        <p:spPr>
          <a:xfrm>
            <a:off x="3226488" y="2785550"/>
            <a:ext cx="2487275" cy="20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5925" y="3376850"/>
            <a:ext cx="707400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113" y="3376850"/>
            <a:ext cx="707400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2669125" y="3453200"/>
            <a:ext cx="688500" cy="3426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869525" y="3453200"/>
            <a:ext cx="688500" cy="3426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1101600" y="4280500"/>
            <a:ext cx="1208100" cy="549300"/>
          </a:xfrm>
          <a:prstGeom prst="wedgeRoundRectCallout">
            <a:avLst>
              <a:gd fmla="val -606" name="adj1"/>
              <a:gd fmla="val -7981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다음샘플 입력</a:t>
            </a:r>
            <a:endParaRPr sz="1100"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4025" y="3428775"/>
            <a:ext cx="688500" cy="68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5064000" y="2375500"/>
            <a:ext cx="1208100" cy="549300"/>
          </a:xfrm>
          <a:prstGeom prst="wedgeRoundRectCallout">
            <a:avLst>
              <a:gd fmla="val -54099" name="adj1"/>
              <a:gd fmla="val 8704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FNN 에는 '메모리'가 없다.</a:t>
            </a:r>
            <a:endParaRPr sz="1100"/>
          </a:p>
        </p:txBody>
      </p:sp>
      <p:sp>
        <p:nvSpPr>
          <p:cNvPr id="117" name="Google Shape;117;p18"/>
          <p:cNvSpPr/>
          <p:nvPr/>
        </p:nvSpPr>
        <p:spPr>
          <a:xfrm>
            <a:off x="6497425" y="4280500"/>
            <a:ext cx="1431300" cy="549300"/>
          </a:xfrm>
          <a:prstGeom prst="wedgeRoundRectCallout">
            <a:avLst>
              <a:gd fmla="val 1802" name="adj1"/>
              <a:gd fmla="val -8158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 샘플을 위해 재사용 되지 않는다</a:t>
            </a:r>
            <a:endParaRPr sz="1100"/>
          </a:p>
        </p:txBody>
      </p:sp>
      <p:sp>
        <p:nvSpPr>
          <p:cNvPr id="118" name="Google Shape;118;p18"/>
          <p:cNvSpPr/>
          <p:nvPr/>
        </p:nvSpPr>
        <p:spPr>
          <a:xfrm>
            <a:off x="6769150" y="3155975"/>
            <a:ext cx="688500" cy="934800"/>
          </a:xfrm>
          <a:prstGeom prst="mathMultiply">
            <a:avLst>
              <a:gd fmla="val 12687" name="adj1"/>
            </a:avLst>
          </a:prstGeom>
          <a:solidFill>
            <a:srgbClr val="F4CCC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3410025" y="10921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인공신경망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114625" y="20065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피드 포워드 신경망</a:t>
            </a:r>
            <a:endParaRPr b="1" sz="1100">
              <a:solidFill>
                <a:srgbClr val="595959"/>
              </a:solidFill>
            </a:endParaRPr>
          </a:p>
        </p:txBody>
      </p:sp>
      <p:cxnSp>
        <p:nvCxnSpPr>
          <p:cNvPr id="125" name="Google Shape;125;p19"/>
          <p:cNvCxnSpPr>
            <a:stCxn id="123" idx="2"/>
            <a:endCxn id="124" idx="0"/>
          </p:cNvCxnSpPr>
          <p:nvPr/>
        </p:nvCxnSpPr>
        <p:spPr>
          <a:xfrm rot="5400000">
            <a:off x="3389175" y="1137600"/>
            <a:ext cx="442500" cy="129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9"/>
          <p:cNvSpPr/>
          <p:nvPr/>
        </p:nvSpPr>
        <p:spPr>
          <a:xfrm>
            <a:off x="4553025" y="20065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순환신경망</a:t>
            </a:r>
            <a:endParaRPr b="1" sz="1100">
              <a:solidFill>
                <a:srgbClr val="595959"/>
              </a:solidFill>
            </a:endParaRPr>
          </a:p>
        </p:txBody>
      </p:sp>
      <p:cxnSp>
        <p:nvCxnSpPr>
          <p:cNvPr id="127" name="Google Shape;127;p19"/>
          <p:cNvCxnSpPr>
            <a:stCxn id="123" idx="2"/>
            <a:endCxn id="126" idx="0"/>
          </p:cNvCxnSpPr>
          <p:nvPr/>
        </p:nvCxnSpPr>
        <p:spPr>
          <a:xfrm flipH="1" rot="-5400000">
            <a:off x="4608375" y="1213800"/>
            <a:ext cx="442500" cy="114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>
            <a:stCxn id="123" idx="2"/>
            <a:endCxn id="129" idx="0"/>
          </p:cNvCxnSpPr>
          <p:nvPr/>
        </p:nvCxnSpPr>
        <p:spPr>
          <a:xfrm flipH="1" rot="-5400000">
            <a:off x="5687175" y="135000"/>
            <a:ext cx="442500" cy="330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9"/>
          <p:cNvSpPr/>
          <p:nvPr/>
        </p:nvSpPr>
        <p:spPr>
          <a:xfrm>
            <a:off x="6458025" y="2006550"/>
            <a:ext cx="22014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GAN, RFB</a:t>
            </a:r>
            <a:endParaRPr b="1" sz="1100">
              <a:solidFill>
                <a:srgbClr val="59595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인코더-디코더 네크워크등…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489550" y="3080575"/>
            <a:ext cx="13551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합성곱 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013550" y="3080575"/>
            <a:ext cx="13551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완전연결신경망</a:t>
            </a:r>
            <a:endParaRPr b="1" sz="1100">
              <a:solidFill>
                <a:srgbClr val="595959"/>
              </a:solidFill>
            </a:endParaRPr>
          </a:p>
        </p:txBody>
      </p:sp>
      <p:cxnSp>
        <p:nvCxnSpPr>
          <p:cNvPr id="132" name="Google Shape;132;p19"/>
          <p:cNvCxnSpPr>
            <a:stCxn id="130" idx="0"/>
            <a:endCxn id="124" idx="2"/>
          </p:cNvCxnSpPr>
          <p:nvPr/>
        </p:nvCxnSpPr>
        <p:spPr>
          <a:xfrm rot="-5400000">
            <a:off x="2263850" y="2381725"/>
            <a:ext cx="602100" cy="795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9"/>
          <p:cNvCxnSpPr>
            <a:stCxn id="131" idx="0"/>
            <a:endCxn id="124" idx="2"/>
          </p:cNvCxnSpPr>
          <p:nvPr/>
        </p:nvCxnSpPr>
        <p:spPr>
          <a:xfrm flipH="1" rot="5400000">
            <a:off x="3025850" y="2415325"/>
            <a:ext cx="602100" cy="7284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311700" y="1402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순환신경망( RNN: Recurrent neural network)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311700" y="774800"/>
            <a:ext cx="85206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'이전에 처리했던 샘플'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들이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'다음 샘플을 처리하기 위해 재사용'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되는 신경망.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즉, 데이터의 흐름이 앞으로만 전달되는 것이 아니라, 이전 데이터가 신경망 층에 순환되는 신경망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2063000"/>
            <a:ext cx="5644500" cy="28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3967275" y="1598450"/>
            <a:ext cx="3050400" cy="765900"/>
          </a:xfrm>
          <a:prstGeom prst="wedgeRoundRectCallout">
            <a:avLst>
              <a:gd fmla="val -62091" name="adj1"/>
              <a:gd fmla="val 39597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기존의 완전 연결 신경망과 거의 비슷하나, 이전 데이터의 흐름을 순환하는 고리 하나가 더 추가됨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9250" y="177850"/>
            <a:ext cx="3211448" cy="1526294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21"/>
          <p:cNvSpPr txBox="1"/>
          <p:nvPr/>
        </p:nvSpPr>
        <p:spPr>
          <a:xfrm>
            <a:off x="311700" y="71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순환신경망 예시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260775" y="728075"/>
            <a:ext cx="22599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가령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오른쪽과 같은 A, B, C  3개의 샘플들은 </a:t>
            </a:r>
            <a:r>
              <a:rPr lang="ko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순차적으로 처리</a:t>
            </a: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하는 순환 신경망 뉴런 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252" y="1783141"/>
            <a:ext cx="3211447" cy="1612700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7500" y="3573850"/>
            <a:ext cx="3211450" cy="1431988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21"/>
          <p:cNvSpPr/>
          <p:nvPr/>
        </p:nvSpPr>
        <p:spPr>
          <a:xfrm>
            <a:off x="158475" y="2027775"/>
            <a:ext cx="1725600" cy="670800"/>
          </a:xfrm>
          <a:prstGeom prst="wedgeRoundRectCallout">
            <a:avLst>
              <a:gd fmla="val 32772" name="adj1"/>
              <a:gd fmla="val -85473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※'시퀀스(Sequence)' 단위로 처리하는 모델이라고도 말한다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/>
        </p:nvSpPr>
        <p:spPr>
          <a:xfrm>
            <a:off x="301375" y="157925"/>
            <a:ext cx="35613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타입스텝 (timestep)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00" y="1055775"/>
            <a:ext cx="3211450" cy="1431988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22"/>
          <p:cNvSpPr/>
          <p:nvPr/>
        </p:nvSpPr>
        <p:spPr>
          <a:xfrm>
            <a:off x="3403550" y="865325"/>
            <a:ext cx="3038700" cy="924900"/>
          </a:xfrm>
          <a:prstGeom prst="wedgeRoundRectCallout">
            <a:avLst>
              <a:gd fmla="val -71266" name="adj1"/>
              <a:gd fmla="val 45013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이때 O</a:t>
            </a:r>
            <a:r>
              <a:rPr baseline="-25000" lang="ko" sz="1000"/>
              <a:t>C</a:t>
            </a:r>
            <a:r>
              <a:rPr lang="ko" sz="1000"/>
              <a:t> 에는 A 보다는 B 에 대한 정보를 더 많이 갖고 있을것이다.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순환신경망에서는 이를 </a:t>
            </a:r>
            <a:r>
              <a:rPr lang="ko" sz="1000">
                <a:solidFill>
                  <a:srgbClr val="0000FF"/>
                </a:solidFill>
              </a:rPr>
              <a:t>'이전 샘플에 대한 기억을 가지고 있다'</a:t>
            </a:r>
            <a:r>
              <a:rPr lang="ko" sz="1000"/>
              <a:t> 고 한다.</a:t>
            </a:r>
            <a:endParaRPr sz="1000"/>
          </a:p>
        </p:txBody>
      </p:sp>
      <p:sp>
        <p:nvSpPr>
          <p:cNvPr id="159" name="Google Shape;159;p22"/>
          <p:cNvSpPr txBox="1"/>
          <p:nvPr/>
        </p:nvSpPr>
        <p:spPr>
          <a:xfrm>
            <a:off x="509250" y="3013100"/>
            <a:ext cx="83232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이렇게 샘플을 처리하는 한 단계를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타임스텝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이라고 합니다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타임스텝이 오래될수록 순환되는 정보는 희미해지게 될거다..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/>
        </p:nvSpPr>
        <p:spPr>
          <a:xfrm>
            <a:off x="311700" y="216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셀 (Cell) ,  은닉상태 (Hidden state)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6105300" y="245225"/>
            <a:ext cx="3038700" cy="649800"/>
          </a:xfrm>
          <a:prstGeom prst="wedgeRoundRectCallout">
            <a:avLst>
              <a:gd fmla="val -58770" name="adj1"/>
              <a:gd fmla="val -9266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hidden state 용어 중요.  순환신경망에서 앞으로 사용</a:t>
            </a:r>
            <a:endParaRPr sz="1000"/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194" y="1993919"/>
            <a:ext cx="1812425" cy="22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3225" y="2233603"/>
            <a:ext cx="3231900" cy="18764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23"/>
          <p:cNvSpPr/>
          <p:nvPr/>
        </p:nvSpPr>
        <p:spPr>
          <a:xfrm>
            <a:off x="1187025" y="1951475"/>
            <a:ext cx="797700" cy="2317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311700" y="873875"/>
            <a:ext cx="8430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순환신경망 에서는 층(layer) 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셀 (cell)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이라고 부릅니다.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하나의 셀에는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여러개의 뉴런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 있지만, 모든 뉴런을 표시하지 않고 하나의 셀로 '층' 을 표현한다.    이때 셀의 출력을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은닉상태(hidden state)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라고 한다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/>
        </p:nvSpPr>
        <p:spPr>
          <a:xfrm>
            <a:off x="311700" y="216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활성화 함수 tanh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387900" y="885325"/>
            <a:ext cx="85206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(일반적으로) 순환신경망 은닉층의 활성화 함수로 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하이퍼볼릭 탄젠트(hyperbolic tangent) 함수인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tanh</a:t>
            </a:r>
            <a:r>
              <a:rPr b="1" baseline="30000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가 많이 사용됨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420" y="2096450"/>
            <a:ext cx="2601375" cy="25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/>
          <p:nvPr/>
        </p:nvSpPr>
        <p:spPr>
          <a:xfrm>
            <a:off x="573525" y="3003850"/>
            <a:ext cx="1497300" cy="1061700"/>
          </a:xfrm>
          <a:prstGeom prst="wedgeRoundRectCallout">
            <a:avLst>
              <a:gd fmla="val 71903" name="adj1"/>
              <a:gd fmla="val -13249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시그모이드 함수는 </a:t>
            </a:r>
            <a:br>
              <a:rPr lang="ko" sz="1000"/>
            </a:br>
            <a:r>
              <a:rPr lang="ko" sz="1000"/>
              <a:t>0 ~ 1 사이의 범위이나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tanh 함수는 </a:t>
            </a:r>
            <a:br>
              <a:rPr lang="ko" sz="1000"/>
            </a:br>
            <a:r>
              <a:rPr b="1" lang="ko" sz="1000">
                <a:solidFill>
                  <a:srgbClr val="980000"/>
                </a:solidFill>
              </a:rPr>
              <a:t>-1 ~ +1 사이의 범위</a:t>
            </a:r>
            <a:r>
              <a:rPr lang="ko" sz="1000"/>
              <a:t>를 가짐</a:t>
            </a:r>
            <a:endParaRPr sz="1000"/>
          </a:p>
        </p:txBody>
      </p:sp>
      <p:sp>
        <p:nvSpPr>
          <p:cNvPr id="178" name="Google Shape;178;p24"/>
          <p:cNvSpPr/>
          <p:nvPr/>
        </p:nvSpPr>
        <p:spPr>
          <a:xfrm>
            <a:off x="6227375" y="2331950"/>
            <a:ext cx="1999800" cy="1369200"/>
          </a:xfrm>
          <a:prstGeom prst="wedgeRoundRectCallout">
            <a:avLst>
              <a:gd fmla="val -82254" name="adj1"/>
              <a:gd fmla="val -2644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순환신경망을 그릴때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활성화 함수를 표시하지 않고 생략하는 경우도 있다. (그림의 복잡함을 피하기 위해)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(그렇다고 활성화 함수가 필요없다는 뜻은 아니다!)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/>
        </p:nvSpPr>
        <p:spPr>
          <a:xfrm>
            <a:off x="311700" y="900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이전 타입스텝에 더해지는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가중치 (weight)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838" y="2114938"/>
            <a:ext cx="500062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/>
          <p:nvPr/>
        </p:nvSpPr>
        <p:spPr>
          <a:xfrm>
            <a:off x="1341050" y="2621950"/>
            <a:ext cx="1858800" cy="707400"/>
          </a:xfrm>
          <a:prstGeom prst="wedgeRoundRectCallout">
            <a:avLst>
              <a:gd fmla="val 76939" name="adj1"/>
              <a:gd fmla="val 94084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Wx </a:t>
            </a:r>
            <a:r>
              <a:rPr lang="ko" sz="1000"/>
              <a:t>는 입력에 곱해지는 가중치</a:t>
            </a:r>
            <a:endParaRPr sz="1000"/>
          </a:p>
        </p:txBody>
      </p:sp>
      <p:sp>
        <p:nvSpPr>
          <p:cNvPr id="186" name="Google Shape;186;p25"/>
          <p:cNvSpPr/>
          <p:nvPr/>
        </p:nvSpPr>
        <p:spPr>
          <a:xfrm>
            <a:off x="4820600" y="2740400"/>
            <a:ext cx="1858800" cy="707400"/>
          </a:xfrm>
          <a:prstGeom prst="wedgeRoundRectCallout">
            <a:avLst>
              <a:gd fmla="val -82857" name="adj1"/>
              <a:gd fmla="val 46141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Wh</a:t>
            </a:r>
            <a:r>
              <a:rPr lang="ko" sz="1000"/>
              <a:t> 는 이전 타임스텝의 은닉상태에 곱해지는 가중치</a:t>
            </a:r>
            <a:endParaRPr sz="1000"/>
          </a:p>
        </p:txBody>
      </p:sp>
      <p:sp>
        <p:nvSpPr>
          <p:cNvPr id="187" name="Google Shape;187;p25"/>
          <p:cNvSpPr/>
          <p:nvPr/>
        </p:nvSpPr>
        <p:spPr>
          <a:xfrm>
            <a:off x="1289725" y="4092275"/>
            <a:ext cx="1858800" cy="707400"/>
          </a:xfrm>
          <a:prstGeom prst="wedgeRoundRectCallout">
            <a:avLst>
              <a:gd fmla="val 62314" name="adj1"/>
              <a:gd fmla="val -32404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뉴런마다 하나의</a:t>
            </a:r>
            <a:r>
              <a:rPr b="1" lang="ko" sz="1000"/>
              <a:t> 절편(bias) </a:t>
            </a:r>
            <a:r>
              <a:rPr lang="ko" sz="1000"/>
              <a:t>가 포함되지만 여기선 따로 표시하진 않습니다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 b="0" l="56997" r="0" t="0"/>
          <a:stretch/>
        </p:blipFill>
        <p:spPr>
          <a:xfrm>
            <a:off x="5342851" y="1290025"/>
            <a:ext cx="3801151" cy="294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 rotWithShape="1">
          <a:blip r:embed="rId3">
            <a:alphaModFix/>
          </a:blip>
          <a:srcRect b="0" l="0" r="59998" t="0"/>
          <a:stretch/>
        </p:blipFill>
        <p:spPr>
          <a:xfrm>
            <a:off x="152400" y="1137625"/>
            <a:ext cx="3535775" cy="29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3688175" y="2204925"/>
            <a:ext cx="1516200" cy="601200"/>
          </a:xfrm>
          <a:prstGeom prst="rightArrow">
            <a:avLst>
              <a:gd fmla="val 58675" name="adj1"/>
              <a:gd fmla="val 68179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타임스텝으로 펼침</a:t>
            </a:r>
            <a:endParaRPr sz="1100"/>
          </a:p>
        </p:txBody>
      </p:sp>
      <p:sp>
        <p:nvSpPr>
          <p:cNvPr id="195" name="Google Shape;195;p26"/>
          <p:cNvSpPr txBox="1"/>
          <p:nvPr/>
        </p:nvSpPr>
        <p:spPr>
          <a:xfrm>
            <a:off x="152400" y="145800"/>
            <a:ext cx="55038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타임스텝으로 셀을 나누어 그리면 아래와 같다.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순환신경망을 타임스텝마다 스릴수 있는데 이런 그림을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'셀을 타임스텝으로 펼쳤다'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라고 말합니다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7285200" y="407400"/>
            <a:ext cx="1858800" cy="707400"/>
          </a:xfrm>
          <a:prstGeom prst="wedgeRoundRectCallout">
            <a:avLst>
              <a:gd fmla="val -64306" name="adj1"/>
              <a:gd fmla="val 48388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최초 타임스텝에 사용되는 이전 은닉상태 h0 는 어케 ?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→ 모두 0 으로 초기화 됩니다.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/>
        </p:nvSpPr>
        <p:spPr>
          <a:xfrm>
            <a:off x="311700" y="292625"/>
            <a:ext cx="8520600" cy="707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셀의 가중치 크기 (개수) 계산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311700" y="1096575"/>
            <a:ext cx="85206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"복잡한 모델을 배울수록 가중치(weight) 개수를 계산해보면, 그 모델을 잘 이해하고 있는지 알수 있다"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3" name="Google Shape;20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25" y="1739488"/>
            <a:ext cx="2132216" cy="2963025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27"/>
          <p:cNvSpPr txBox="1"/>
          <p:nvPr/>
        </p:nvSpPr>
        <p:spPr>
          <a:xfrm>
            <a:off x="498450" y="2087950"/>
            <a:ext cx="5061000" cy="114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생각해보자 → 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가령) 순환층에 입력되는 특성(feature) 의 개수가 4개.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순환층의 뉴런이 3개 인 경우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98450" y="3459550"/>
            <a:ext cx="50610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우전  </a:t>
            </a:r>
            <a:r>
              <a:rPr b="1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Wx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는 입력층과 순환층이 모두 '완전 연결'되기 때문에</a:t>
            </a:r>
            <a:b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Wx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=&gt; 4 x 3 = 12개</a:t>
            </a:r>
            <a:endParaRPr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75" y="169750"/>
            <a:ext cx="2070875" cy="2877774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0875" y="169750"/>
            <a:ext cx="1768675" cy="3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 txBox="1"/>
          <p:nvPr/>
        </p:nvSpPr>
        <p:spPr>
          <a:xfrm>
            <a:off x="5174775" y="352675"/>
            <a:ext cx="3915600" cy="328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타임스텝에 재사용되는 은닉상태를 위한 </a:t>
            </a:r>
            <a:r>
              <a:rPr b="1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="1" baseline="-25000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의 크기는?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순환층에 있는 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첫번째 뉴런(r1)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의 은닉상태가 다음 타임스텝에 재사용될때  </a:t>
            </a:r>
            <a:r>
              <a:rPr lang="ko">
                <a:solidFill>
                  <a:srgbClr val="695D46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첫번째, 두번째, 세번째 뉴런에 모두 전달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된다.  (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왼쪽 그림에서 붉은색으로 표시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).  즉 이전 타임스텝의 은닉상태는 다음 타임스텝의 뉴런에 '완전연결된다'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따라서 이 순환층에서 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은닉상태를 위한 가중치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Wₕ  =&gt; 3 x 3 = 9개</a:t>
            </a:r>
            <a:endParaRPr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/>
        </p:nvSpPr>
        <p:spPr>
          <a:xfrm>
            <a:off x="373175" y="337500"/>
            <a:ext cx="44934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각 뉴런마다 하나의 절편 (bias)이 있다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bias 에도 weight 가 있으니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 개수는 뉴런의 개수만큼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3개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가 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475" y="2123550"/>
            <a:ext cx="1728503" cy="2402001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9" name="Google Shape;219;p29"/>
          <p:cNvSpPr/>
          <p:nvPr/>
        </p:nvSpPr>
        <p:spPr>
          <a:xfrm>
            <a:off x="5779275" y="1822200"/>
            <a:ext cx="366300" cy="3345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p29"/>
          <p:cNvCxnSpPr>
            <a:stCxn id="219" idx="5"/>
          </p:cNvCxnSpPr>
          <p:nvPr/>
        </p:nvCxnSpPr>
        <p:spPr>
          <a:xfrm>
            <a:off x="6091932" y="2107714"/>
            <a:ext cx="545100" cy="657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9"/>
          <p:cNvCxnSpPr>
            <a:stCxn id="219" idx="5"/>
          </p:cNvCxnSpPr>
          <p:nvPr/>
        </p:nvCxnSpPr>
        <p:spPr>
          <a:xfrm>
            <a:off x="6091932" y="2107714"/>
            <a:ext cx="568800" cy="1254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9"/>
          <p:cNvCxnSpPr>
            <a:stCxn id="219" idx="5"/>
          </p:cNvCxnSpPr>
          <p:nvPr/>
        </p:nvCxnSpPr>
        <p:spPr>
          <a:xfrm>
            <a:off x="6091932" y="2107714"/>
            <a:ext cx="545100" cy="1716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/>
        </p:nvSpPr>
        <p:spPr>
          <a:xfrm>
            <a:off x="421675" y="1967200"/>
            <a:ext cx="85206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그렇다면 모델 파라미터 개수는?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따라서 이 순환층은 모두 </a:t>
            </a: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12 + 9 + 3 = 24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개의 모델 파라미터를 갖고 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806450" y="175250"/>
            <a:ext cx="6377100" cy="10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595959"/>
                </a:solidFill>
              </a:rPr>
              <a:t>순환층의 모델 파라미터 개수 = Wx + Wh + 절편 </a:t>
            </a:r>
            <a:endParaRPr sz="2100">
              <a:solidFill>
                <a:srgbClr val="595959"/>
              </a:solidFill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4008175" y="1214150"/>
            <a:ext cx="1065600" cy="549300"/>
          </a:xfrm>
          <a:prstGeom prst="wedgeRoundRectCallout">
            <a:avLst>
              <a:gd fmla="val 46253" name="adj1"/>
              <a:gd fmla="val -10916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입력 가중치</a:t>
            </a:r>
            <a:endParaRPr sz="1100"/>
          </a:p>
        </p:txBody>
      </p:sp>
      <p:sp>
        <p:nvSpPr>
          <p:cNvPr id="230" name="Google Shape;230;p30"/>
          <p:cNvSpPr/>
          <p:nvPr/>
        </p:nvSpPr>
        <p:spPr>
          <a:xfrm>
            <a:off x="5329950" y="1214150"/>
            <a:ext cx="1258800" cy="549300"/>
          </a:xfrm>
          <a:prstGeom prst="wedgeRoundRectCallout">
            <a:avLst>
              <a:gd fmla="val -10433" name="adj1"/>
              <a:gd fmla="val -10190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은닉상태 가중치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순환층의 '입력' 과 '출력'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CNN(합성곱 신경망) 의 전형적인 입력은 하나의 샘플이 3개 차원을 가졌었다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(height, width, channel)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순환층의 입력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은 일반적으로 샘플마다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2개의 차원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을 가진다.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하나의 샘플을 하나의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시퀀스(Sequence)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라고도 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시퀀스 안에는 여러개의 아이템이 들어있다.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시퀀스의 길이(아이템 개수?) 가 바로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타임스텝의 길이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가 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/>
        </p:nvSpPr>
        <p:spPr>
          <a:xfrm>
            <a:off x="311700" y="64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예 (입력)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311700" y="673125"/>
            <a:ext cx="85206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아래 샘플은 4개의 단어 (4개의 아이템) 으로 이루어져 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Consolas"/>
                <a:ea typeface="Consolas"/>
                <a:cs typeface="Consolas"/>
                <a:sym typeface="Consolas"/>
              </a:rPr>
              <a:t>"I am a boy" =&gt; "I", "am", "a", "boy"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각 단어를 3개의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숫자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로 표현한다고 가정해보자.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29209" t="0"/>
          <a:stretch/>
        </p:blipFill>
        <p:spPr>
          <a:xfrm>
            <a:off x="1136975" y="2070525"/>
            <a:ext cx="5197750" cy="21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/>
          <p:cNvPicPr preferRelativeResize="0"/>
          <p:nvPr/>
        </p:nvPicPr>
        <p:blipFill rotWithShape="1">
          <a:blip r:embed="rId3">
            <a:alphaModFix/>
          </a:blip>
          <a:srcRect b="0" l="78905" r="0" t="0"/>
          <a:stretch/>
        </p:blipFill>
        <p:spPr>
          <a:xfrm>
            <a:off x="6999600" y="2130575"/>
            <a:ext cx="1548825" cy="21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/>
        </p:nvSpPr>
        <p:spPr>
          <a:xfrm>
            <a:off x="311700" y="32667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예 (출력)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311700" y="1266325"/>
            <a:ext cx="8520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위 입력이 순환층을 통과하면 두번째, 세번째 차원이 사라지고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순환층의 뉴런 개수만큼 출력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1" name="Google Shape;2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475" y="2070925"/>
            <a:ext cx="6640030" cy="276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050" y="1561675"/>
            <a:ext cx="6640030" cy="27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/>
          <p:nvPr/>
        </p:nvSpPr>
        <p:spPr>
          <a:xfrm>
            <a:off x="2079475" y="2172825"/>
            <a:ext cx="1748450" cy="950625"/>
          </a:xfrm>
          <a:custGeom>
            <a:rect b="b" l="l" r="r" t="t"/>
            <a:pathLst>
              <a:path extrusionOk="0" h="38025" w="69938">
                <a:moveTo>
                  <a:pt x="43456" y="0"/>
                </a:moveTo>
                <a:lnTo>
                  <a:pt x="0" y="20710"/>
                </a:lnTo>
                <a:lnTo>
                  <a:pt x="0" y="30216"/>
                </a:lnTo>
                <a:lnTo>
                  <a:pt x="25802" y="38025"/>
                </a:lnTo>
                <a:lnTo>
                  <a:pt x="69938" y="17315"/>
                </a:lnTo>
                <a:lnTo>
                  <a:pt x="69259" y="6451"/>
                </a:lnTo>
                <a:close/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8" name="Google Shape;258;p34"/>
          <p:cNvSpPr/>
          <p:nvPr/>
        </p:nvSpPr>
        <p:spPr>
          <a:xfrm>
            <a:off x="5864950" y="2070975"/>
            <a:ext cx="1315575" cy="848775"/>
          </a:xfrm>
          <a:custGeom>
            <a:rect b="b" l="l" r="r" t="t"/>
            <a:pathLst>
              <a:path extrusionOk="0" h="33951" w="52623">
                <a:moveTo>
                  <a:pt x="339" y="22408"/>
                </a:moveTo>
                <a:lnTo>
                  <a:pt x="0" y="33951"/>
                </a:lnTo>
                <a:lnTo>
                  <a:pt x="52623" y="10864"/>
                </a:lnTo>
                <a:lnTo>
                  <a:pt x="52284" y="0"/>
                </a:lnTo>
                <a:close/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9" name="Google Shape;259;p34"/>
          <p:cNvSpPr/>
          <p:nvPr/>
        </p:nvSpPr>
        <p:spPr>
          <a:xfrm>
            <a:off x="500375" y="526250"/>
            <a:ext cx="3005100" cy="891300"/>
          </a:xfrm>
          <a:prstGeom prst="wedgeRoundRectCallout">
            <a:avLst>
              <a:gd fmla="val 32486" name="adj1"/>
              <a:gd fmla="val 84270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입력: 하나의 샘플의 </a:t>
            </a:r>
            <a:br>
              <a:rPr lang="ko" sz="1100"/>
            </a:br>
            <a:r>
              <a:rPr b="1" lang="ko" sz="1100">
                <a:solidFill>
                  <a:srgbClr val="FF00FF"/>
                </a:solidFill>
              </a:rPr>
              <a:t>시퀀스 길이(여기에서는 단어개수) x 단어표현</a:t>
            </a:r>
            <a:r>
              <a:rPr lang="ko" sz="1100"/>
              <a:t> 의</a:t>
            </a:r>
            <a:r>
              <a:rPr b="1" lang="ko" sz="1100">
                <a:solidFill>
                  <a:srgbClr val="FF00FF"/>
                </a:solidFill>
              </a:rPr>
              <a:t> 2차원 배열 </a:t>
            </a:r>
            <a:r>
              <a:rPr lang="ko" sz="1100"/>
              <a:t>이..</a:t>
            </a:r>
            <a:endParaRPr sz="1100"/>
          </a:p>
        </p:txBody>
      </p:sp>
      <p:sp>
        <p:nvSpPr>
          <p:cNvPr id="260" name="Google Shape;260;p34"/>
          <p:cNvSpPr/>
          <p:nvPr/>
        </p:nvSpPr>
        <p:spPr>
          <a:xfrm>
            <a:off x="5846800" y="526250"/>
            <a:ext cx="2318400" cy="806700"/>
          </a:xfrm>
          <a:prstGeom prst="wedgeRoundRectCallout">
            <a:avLst>
              <a:gd fmla="val -5641" name="adj1"/>
              <a:gd fmla="val 7735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FF"/>
                </a:solidFill>
              </a:rPr>
              <a:t>출력: </a:t>
            </a:r>
            <a:r>
              <a:rPr b="1" lang="ko" sz="1100">
                <a:solidFill>
                  <a:srgbClr val="0000FF"/>
                </a:solidFill>
                <a:highlight>
                  <a:srgbClr val="FFFF00"/>
                </a:highlight>
              </a:rPr>
              <a:t>1차원 배열</a:t>
            </a:r>
            <a:r>
              <a:rPr lang="ko" sz="1100"/>
              <a:t>로 바뀐다.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1차원 배열의 크기는 </a:t>
            </a:r>
            <a:r>
              <a:rPr b="1" lang="ko" sz="1100">
                <a:solidFill>
                  <a:srgbClr val="0000FF"/>
                </a:solidFill>
              </a:rPr>
              <a:t>순환층의 뉴런개수</a:t>
            </a:r>
            <a:r>
              <a:rPr lang="ko" sz="1100"/>
              <a:t>에 의해 결정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순환층은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마지막 타임스텝의 은닉상태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만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출력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으로 내보낸다!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266" name="Google Shape;26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75" y="2335175"/>
            <a:ext cx="4335656" cy="26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5"/>
          <p:cNvSpPr txBox="1"/>
          <p:nvPr/>
        </p:nvSpPr>
        <p:spPr>
          <a:xfrm>
            <a:off x="311700" y="1680550"/>
            <a:ext cx="85206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아래 그림에선 이러한 특징을 표현하기 위헤 셀의 출력을 점선으로 표시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b="1" baseline="-25000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는 마지막 타임스텝의 은닉 상태임을 나타내기 위함.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/>
        </p:nvSpPr>
        <p:spPr>
          <a:xfrm>
            <a:off x="311700" y="1402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순환신경망도 여러개의 층을 쌓을수 있다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273" name="Google Shape;2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750" y="2057325"/>
            <a:ext cx="6782491" cy="30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6"/>
          <p:cNvSpPr txBox="1"/>
          <p:nvPr/>
        </p:nvSpPr>
        <p:spPr>
          <a:xfrm>
            <a:off x="311700" y="1279600"/>
            <a:ext cx="85206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분명히 순환층의 입력은 샘플마다 타임스텝 x 단어표현 의 2차원 배열이어야 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그런데, 출력은 1차원 배열?    그래서! 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마지막 셀을 제외한 다른 모든 셀은 '</a:t>
            </a:r>
            <a:r>
              <a:rPr b="1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모든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타임스텝의 은닉 상태'를 출력합니다.  →  (2차원으로 출력?)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304800" y="762000"/>
            <a:ext cx="768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순환층을 여러개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쌓았다?  이때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셀의 출력은?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/>
        </p:nvSpPr>
        <p:spPr>
          <a:xfrm>
            <a:off x="311700" y="64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출력층의 구성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311700" y="690100"/>
            <a:ext cx="8520600" cy="13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CNN 과 마찬가지로 RNN 도 마지막에는 밀집층(dense layer) 를 두어 클래스를 분류 합니다.  </a:t>
            </a:r>
            <a:b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다중분류의 경우</a:t>
            </a: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: 출력층에는 '클래스 개수만큼의 뉴런'을 두고 소프트맥스 활성화 함수 사용.</a:t>
            </a:r>
            <a:b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이진분류의 경우</a:t>
            </a: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: '하나의 뉴런'을 두고 시그모이드 활성화 함수 사용.</a:t>
            </a:r>
            <a:endParaRPr sz="13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CNN 과 다른점: 마지막셀의 출력이 1차원이라</a:t>
            </a: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서,</a:t>
            </a:r>
            <a:r>
              <a:rPr lang="ko" sz="13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Flatten 으로 펼칠 필요 없다.  셀의 출력을 그대로 밀집층에 사용가능</a:t>
            </a:r>
            <a:endParaRPr sz="13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2" name="Google Shape;2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175" y="2116900"/>
            <a:ext cx="6003574" cy="28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