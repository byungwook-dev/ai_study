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PT Sans Narrow"/>
      <p:regular r:id="rId32"/>
      <p:bold r:id="rId33"/>
    </p:embeddedFont>
    <p:embeddedFont>
      <p:font typeface="Open Sans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PTSansNarrow-bold.fntdata"/><Relationship Id="rId10" Type="http://schemas.openxmlformats.org/officeDocument/2006/relationships/slide" Target="slides/slide5.xml"/><Relationship Id="rId32" Type="http://schemas.openxmlformats.org/officeDocument/2006/relationships/font" Target="fonts/PTSansNarrow-regular.fntdata"/><Relationship Id="rId13" Type="http://schemas.openxmlformats.org/officeDocument/2006/relationships/slide" Target="slides/slide8.xml"/><Relationship Id="rId35" Type="http://schemas.openxmlformats.org/officeDocument/2006/relationships/font" Target="fonts/OpenSans-bold.fntdata"/><Relationship Id="rId12" Type="http://schemas.openxmlformats.org/officeDocument/2006/relationships/slide" Target="slides/slide7.xml"/><Relationship Id="rId34" Type="http://schemas.openxmlformats.org/officeDocument/2006/relationships/font" Target="fonts/OpenSans-regular.fntdata"/><Relationship Id="rId15" Type="http://schemas.openxmlformats.org/officeDocument/2006/relationships/slide" Target="slides/slide10.xml"/><Relationship Id="rId37" Type="http://schemas.openxmlformats.org/officeDocument/2006/relationships/font" Target="fonts/OpenSans-boldItalic.fntdata"/><Relationship Id="rId14" Type="http://schemas.openxmlformats.org/officeDocument/2006/relationships/slide" Target="slides/slide9.xml"/><Relationship Id="rId36" Type="http://schemas.openxmlformats.org/officeDocument/2006/relationships/font" Target="fonts/OpenSans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12f79fecc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12f79fecc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512f79fecc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512f79fecc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12f79fecc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512f79fecc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512f79fecc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512f79fecc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12f79fecc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512f79fecc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512f79fecc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512f79fecc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512f79fecc_0_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512f79fecc_0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12f79fecc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512f79fecc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512f79fecc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512f79fecc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512f79fecc_0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512f79fecc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12f79fecc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512f79fecc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512f79fecc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512f79fecc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512f79fecc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512f79fecc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512f79fecc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512f79fecc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519000445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51900044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519000445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519000445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5190004455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5190004455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190004455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5190004455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5190004455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5190004455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5190004455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5190004455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5190004455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5190004455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5190004455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5190004455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5190004455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5190004455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5190004455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5190004455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5190004455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5190004455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5190004455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5190004455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LSTM, GRU, bi-LSTM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LSTM</a:t>
            </a:r>
            <a:r>
              <a:rPr lang="ko"/>
              <a:t>:Long Short-Term Memory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GRU</a:t>
            </a:r>
            <a:r>
              <a:rPr lang="ko"/>
              <a:t>: Gated Recurrent Unit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bi-LSTM</a:t>
            </a:r>
            <a:r>
              <a:rPr lang="ko"/>
              <a:t> : Bidirectional LSTM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/>
        </p:nvSpPr>
        <p:spPr>
          <a:xfrm>
            <a:off x="342600" y="588725"/>
            <a:ext cx="84588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600">
                <a:solidFill>
                  <a:srgbClr val="0000FF"/>
                </a:solidFill>
                <a:highlight>
                  <a:srgbClr val="FFFFFF"/>
                </a:highlight>
              </a:rPr>
              <a:t> ''모스크바에 여행을 왔는데 건물도 예쁘고 먹을 것도 맛있었어. 그런데 글쎄 직장 상사한테 전화가 왔어. 어디냐고 묻더라구 그래서 나는 말했지. 저 여행왔는데요. 여기 ___''</a:t>
            </a:r>
            <a:endParaRPr sz="1600">
              <a:solidFill>
                <a:srgbClr val="0000FF"/>
              </a:solidFill>
              <a:highlight>
                <a:srgbClr val="FFFFFF"/>
              </a:highlight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6500100" y="1442625"/>
            <a:ext cx="1842600" cy="549300"/>
          </a:xfrm>
          <a:prstGeom prst="wedgeRoundRectCallout">
            <a:avLst>
              <a:gd fmla="val 17763" name="adj1"/>
              <a:gd fmla="val -78291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여기 들어갈 말을 예측해보세요.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00" y="1402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기본 RNN 의 한계</a:t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447325" y="4363100"/>
            <a:ext cx="8520600" cy="5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※ 기본적인 RNN 을 'Simple RNN' 혹은 'Vanila RNN' 이라고도 합니다.</a:t>
            </a:r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3288" y="1031775"/>
            <a:ext cx="4980075" cy="302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기본 순환층의 약점</a:t>
            </a:r>
            <a:endParaRPr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일반적으로 기본 순환층은 </a:t>
            </a:r>
            <a:r>
              <a:rPr lang="ko">
                <a:solidFill>
                  <a:srgbClr val="980000"/>
                </a:solidFill>
              </a:rPr>
              <a:t>'</a:t>
            </a:r>
            <a:r>
              <a:rPr b="1" lang="ko">
                <a:solidFill>
                  <a:srgbClr val="980000"/>
                </a:solidFill>
              </a:rPr>
              <a:t>긴 시퀀스</a:t>
            </a:r>
            <a:r>
              <a:rPr lang="ko">
                <a:solidFill>
                  <a:srgbClr val="980000"/>
                </a:solidFill>
              </a:rPr>
              <a:t>'를 학습하기 어렵다</a:t>
            </a:r>
            <a:r>
              <a:rPr lang="ko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시퀀스가 길수록 순환되는 은닉상태에 담긴 정보가 희석되기 때문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따라서 멀리 떨어져 있는 단어 정보를 인식하는데 어려울수 있다.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이를 위해 </a:t>
            </a:r>
            <a:r>
              <a:rPr b="1" lang="ko">
                <a:solidFill>
                  <a:srgbClr val="980000"/>
                </a:solidFill>
              </a:rPr>
              <a:t>LSTM</a:t>
            </a:r>
            <a:r>
              <a:rPr b="1" lang="ko"/>
              <a:t> </a:t>
            </a:r>
            <a:r>
              <a:rPr lang="ko"/>
              <a:t>과 </a:t>
            </a:r>
            <a:r>
              <a:rPr b="1" lang="ko">
                <a:solidFill>
                  <a:srgbClr val="980000"/>
                </a:solidFill>
              </a:rPr>
              <a:t>GRU셀</a:t>
            </a:r>
            <a:r>
              <a:rPr lang="ko"/>
              <a:t>이 등장!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↑ SimpleRNN 보다 훨~씬 계산이 복잡하다.  그러나 </a:t>
            </a:r>
            <a:r>
              <a:rPr b="1" lang="ko"/>
              <a:t>'성능'이 뛰어남!</a:t>
            </a:r>
            <a:r>
              <a:rPr lang="ko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순환신경망에서 많이 채택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1402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장기 의존성 문제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3156"/>
              <a:t>(The Problem of Long-term Dependencies)</a:t>
            </a:r>
            <a:endParaRPr sz="3156"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311700" y="1266325"/>
            <a:ext cx="8520600" cy="30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24292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가장 중요한 정보가 시점의</a:t>
            </a:r>
            <a:r>
              <a:rPr b="1" lang="ko" sz="1600">
                <a:solidFill>
                  <a:srgbClr val="24292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앞 쪽에 위치</a:t>
            </a:r>
            <a:r>
              <a:rPr lang="ko" sz="1600">
                <a:solidFill>
                  <a:srgbClr val="24292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할 수도 있습니다.</a:t>
            </a:r>
            <a:endParaRPr sz="1600">
              <a:solidFill>
                <a:srgbClr val="24292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''모스크바에 여행을 왔는데 건물도 예쁘고 먹을 것도 맛있었어. 그런데 글쎄 직장 상사한테 전화가 왔어. 어디냐고 묻더라구 그래서 나는 말했지. 저 여행왔는데요. 여기 ___''</a:t>
            </a:r>
            <a:endParaRPr sz="1600">
              <a:solidFill>
                <a:srgbClr val="0000F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24292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다음 단어를 예측하기 위해서는 장소 정보가 필요합니다. 그런데 장소 정보에 해당되는 단어인 '모스크바'는 앞에 위치하고 있고, RNN이 </a:t>
            </a:r>
            <a:r>
              <a:rPr b="1" lang="ko" sz="1600">
                <a:solidFill>
                  <a:srgbClr val="98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충분한 기억력</a:t>
            </a:r>
            <a:r>
              <a:rPr lang="ko" sz="1600">
                <a:solidFill>
                  <a:srgbClr val="24292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을 가지고 있지 못한다면 다음 단어를 엉뚱하게 예측합니다</a:t>
            </a:r>
            <a:endParaRPr sz="1600">
              <a:solidFill>
                <a:srgbClr val="24292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24292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이를 </a:t>
            </a:r>
            <a:r>
              <a:rPr b="1" lang="ko" sz="1600">
                <a:solidFill>
                  <a:srgbClr val="98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장기 의존성 문제</a:t>
            </a:r>
            <a:r>
              <a:rPr lang="ko" sz="1600">
                <a:solidFill>
                  <a:srgbClr val="24292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(the problem of Long-Term Dependencies)라고 합니다.</a:t>
            </a:r>
            <a:endParaRPr sz="1600">
              <a:solidFill>
                <a:srgbClr val="24292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600">
                <a:solidFill>
                  <a:srgbClr val="24292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이를 극복하기 위해 다양한 RNN 변형이 등장했고 </a:t>
            </a:r>
            <a:r>
              <a:rPr b="1" lang="ko" sz="16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LSTM</a:t>
            </a:r>
            <a:r>
              <a:rPr lang="ko" sz="1600">
                <a:solidFill>
                  <a:srgbClr val="24292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도 그중 하나입니다</a:t>
            </a:r>
            <a:endParaRPr sz="1600">
              <a:solidFill>
                <a:srgbClr val="24292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LSTM</a:t>
            </a:r>
            <a:endParaRPr/>
          </a:p>
        </p:txBody>
      </p:sp>
      <p:sp>
        <p:nvSpPr>
          <p:cNvPr id="98" name="Google Shape;98;p18"/>
          <p:cNvSpPr txBox="1"/>
          <p:nvPr/>
        </p:nvSpPr>
        <p:spPr>
          <a:xfrm>
            <a:off x="3072000" y="15725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Long Short-Term Memory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LSTM 구조</a:t>
            </a:r>
            <a:endParaRPr/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311700" y="1266325"/>
            <a:ext cx="8520600" cy="23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Long Short-Term Memory : </a:t>
            </a:r>
            <a:r>
              <a:rPr b="1" lang="ko">
                <a:solidFill>
                  <a:srgbClr val="980000"/>
                </a:solidFill>
              </a:rPr>
              <a:t>'단기기억'</a:t>
            </a:r>
            <a:r>
              <a:rPr lang="ko"/>
              <a:t>을</a:t>
            </a:r>
            <a:r>
              <a:rPr b="1" lang="ko"/>
              <a:t> </a:t>
            </a:r>
            <a:r>
              <a:rPr b="1" lang="ko">
                <a:solidFill>
                  <a:srgbClr val="980000"/>
                </a:solidFill>
              </a:rPr>
              <a:t>'오래 기억'</a:t>
            </a:r>
            <a:r>
              <a:rPr lang="ko"/>
              <a:t>하기 위해 고안됨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기본  순환신경망과 기본개념은 동일하나,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0000FF"/>
                </a:solidFill>
              </a:rPr>
              <a:t>LSTM</a:t>
            </a:r>
            <a:r>
              <a:rPr lang="ko"/>
              <a:t> 은 입력과 가중치(weight)를 곱하고 절편(bias) 를 더해 활성화 함수를 통과시키는 구조를 </a:t>
            </a:r>
            <a:r>
              <a:rPr b="1" lang="ko">
                <a:solidFill>
                  <a:srgbClr val="0000FF"/>
                </a:solidFill>
              </a:rPr>
              <a:t>여러개 </a:t>
            </a:r>
            <a:r>
              <a:rPr lang="ko">
                <a:solidFill>
                  <a:srgbClr val="0000FF"/>
                </a:solidFill>
              </a:rPr>
              <a:t>가지고 있다</a:t>
            </a:r>
            <a:r>
              <a:rPr lang="ko"/>
              <a:t>.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이러한 계산 결과는 다음 타임스텝에 재사용된다.</a:t>
            </a:r>
            <a:endParaRPr/>
          </a:p>
        </p:txBody>
      </p:sp>
      <p:sp>
        <p:nvSpPr>
          <p:cNvPr id="105" name="Google Shape;105;p19"/>
          <p:cNvSpPr/>
          <p:nvPr/>
        </p:nvSpPr>
        <p:spPr>
          <a:xfrm>
            <a:off x="1320350" y="4048075"/>
            <a:ext cx="4641900" cy="820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이 과정을 하나씩 따라가 봅니다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/>
        </p:nvSpPr>
        <p:spPr>
          <a:xfrm>
            <a:off x="0" y="0"/>
            <a:ext cx="8824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LSTM 의 은닉상태 (hidden state) 만드는 방법</a:t>
            </a:r>
            <a:endParaRPr/>
          </a:p>
        </p:txBody>
      </p:sp>
      <p:pic>
        <p:nvPicPr>
          <p:cNvPr id="111" name="Google Shape;1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8625" y="923825"/>
            <a:ext cx="3988490" cy="361007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0"/>
          <p:cNvSpPr/>
          <p:nvPr/>
        </p:nvSpPr>
        <p:spPr>
          <a:xfrm>
            <a:off x="355000" y="1892750"/>
            <a:ext cx="2121300" cy="1730100"/>
          </a:xfrm>
          <a:prstGeom prst="wedgeRoundRectCallout">
            <a:avLst>
              <a:gd fmla="val 139702" name="adj1"/>
              <a:gd fmla="val 6734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은닉상태는 '입력' 과  '이전 타입스텝의 은닉상태 h'를 가중치 (W</a:t>
            </a:r>
            <a:r>
              <a:rPr baseline="-25000" lang="ko" sz="1200"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)에 곱한후 활성화 함수를 통과시켜 다음 은닉상태를 만듭니다.  이때 기본순환층과는 달리 시그모이드 활성화 함수 사용.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3" name="Google Shape;113;p20"/>
          <p:cNvSpPr/>
          <p:nvPr/>
        </p:nvSpPr>
        <p:spPr>
          <a:xfrm>
            <a:off x="617175" y="3783000"/>
            <a:ext cx="2346000" cy="750900"/>
          </a:xfrm>
          <a:prstGeom prst="wedgeRoundRectCallout">
            <a:avLst>
              <a:gd fmla="val 116805" name="adj1"/>
              <a:gd fmla="val -150866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그림의 편의상 </a:t>
            </a:r>
            <a:r>
              <a:rPr b="1" lang="ko" sz="1200">
                <a:latin typeface="Consolas"/>
                <a:ea typeface="Consolas"/>
                <a:cs typeface="Consolas"/>
                <a:sym typeface="Consolas"/>
              </a:rPr>
              <a:t>W</a:t>
            </a:r>
            <a:r>
              <a:rPr b="1" baseline="-25000" lang="ko" sz="1200"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와 </a:t>
            </a:r>
            <a:r>
              <a:rPr b="1" lang="ko" sz="1200">
                <a:latin typeface="Consolas"/>
                <a:ea typeface="Consolas"/>
                <a:cs typeface="Consolas"/>
                <a:sym typeface="Consolas"/>
              </a:rPr>
              <a:t>W</a:t>
            </a:r>
            <a:r>
              <a:rPr b="1" baseline="-25000" lang="ko" sz="1200">
                <a:latin typeface="Consolas"/>
                <a:ea typeface="Consolas"/>
                <a:cs typeface="Consolas"/>
                <a:sym typeface="Consolas"/>
              </a:rPr>
              <a:t>h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를 통틀어 </a:t>
            </a:r>
            <a:r>
              <a:rPr b="1" lang="ko" sz="1200">
                <a:latin typeface="Consolas"/>
                <a:ea typeface="Consolas"/>
                <a:cs typeface="Consolas"/>
                <a:sym typeface="Consolas"/>
              </a:rPr>
              <a:t>W</a:t>
            </a:r>
            <a:r>
              <a:rPr b="1" baseline="-25000" lang="ko" sz="1200"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로 표시했슴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4" name="Google Shape;114;p20"/>
          <p:cNvCxnSpPr/>
          <p:nvPr/>
        </p:nvCxnSpPr>
        <p:spPr>
          <a:xfrm>
            <a:off x="4810750" y="1758500"/>
            <a:ext cx="0" cy="5241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" name="Google Shape;115;p20"/>
          <p:cNvSpPr/>
          <p:nvPr/>
        </p:nvSpPr>
        <p:spPr>
          <a:xfrm>
            <a:off x="6673975" y="1299050"/>
            <a:ext cx="2121300" cy="1240800"/>
          </a:xfrm>
          <a:prstGeom prst="wedgeRoundRectCallout">
            <a:avLst>
              <a:gd fmla="val -75982" name="adj1"/>
              <a:gd fmla="val 11272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또 tanh 활성화 함수를 통과한 </a:t>
            </a:r>
            <a:r>
              <a:rPr b="1" lang="ko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어떤 값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과 곱해져서(X) 은닉상태를 만듭니다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6" name="Google Shape;116;p20"/>
          <p:cNvCxnSpPr/>
          <p:nvPr/>
        </p:nvCxnSpPr>
        <p:spPr>
          <a:xfrm flipH="1">
            <a:off x="4769175" y="2070150"/>
            <a:ext cx="2500200" cy="3504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/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0000FF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셀 상태</a:t>
            </a: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(cell state)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22" name="Google Shape;122;p21"/>
          <p:cNvSpPr txBox="1"/>
          <p:nvPr/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LSTM 에는 순환되는 상태가 2개다.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은닉상태 (hidden state)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  와  </a:t>
            </a:r>
            <a:r>
              <a:rPr b="1"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셀상태 (cell state)</a:t>
            </a:r>
            <a:r>
              <a:rPr b="1"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!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셀 상태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는 은닉상태와 달리 다음 층으로 전달되지 않고 </a:t>
            </a:r>
            <a:r>
              <a:rPr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LSTM 셀 에서 순환만 되는 값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8075" y="501800"/>
            <a:ext cx="4361450" cy="426069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2"/>
          <p:cNvSpPr txBox="1"/>
          <p:nvPr/>
        </p:nvSpPr>
        <p:spPr>
          <a:xfrm>
            <a:off x="311700" y="-12175"/>
            <a:ext cx="52140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0000FF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셀 상태</a:t>
            </a: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(cell state) 계산 과정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29" name="Google Shape;129;p22"/>
          <p:cNvSpPr/>
          <p:nvPr/>
        </p:nvSpPr>
        <p:spPr>
          <a:xfrm>
            <a:off x="5885025" y="161550"/>
            <a:ext cx="1382100" cy="1020300"/>
          </a:xfrm>
          <a:prstGeom prst="wedgeRoundRectCallout">
            <a:avLst>
              <a:gd fmla="val -62751" name="adj1"/>
              <a:gd fmla="val 101164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셀상태는 은닉상태 h 과 구분하기 위해 C 로 표시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0" name="Google Shape;130;p22"/>
          <p:cNvSpPr/>
          <p:nvPr/>
        </p:nvSpPr>
        <p:spPr>
          <a:xfrm>
            <a:off x="311700" y="2952750"/>
            <a:ext cx="2100900" cy="1020300"/>
          </a:xfrm>
          <a:prstGeom prst="wedgeRoundRectCallout">
            <a:avLst>
              <a:gd fmla="val 99696" name="adj1"/>
              <a:gd fmla="val 31939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입력과 은닉상태를 또 다른 가중치 Wf 에 곱한다음 시그모이드 함수 통과.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" name="Google Shape;131;p22"/>
          <p:cNvSpPr/>
          <p:nvPr/>
        </p:nvSpPr>
        <p:spPr>
          <a:xfrm>
            <a:off x="5188425" y="4490600"/>
            <a:ext cx="1001400" cy="493800"/>
          </a:xfrm>
          <a:prstGeom prst="wedgeRoundRectCallout">
            <a:avLst>
              <a:gd fmla="val -64822" name="adj1"/>
              <a:gd fmla="val -62895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은닉상태 h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" name="Google Shape;132;p22"/>
          <p:cNvSpPr/>
          <p:nvPr/>
        </p:nvSpPr>
        <p:spPr>
          <a:xfrm>
            <a:off x="159300" y="742950"/>
            <a:ext cx="2100900" cy="1020300"/>
          </a:xfrm>
          <a:prstGeom prst="wedgeRoundRectCallout">
            <a:avLst>
              <a:gd fmla="val 99696" name="adj1"/>
              <a:gd fmla="val 31939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이전 타입스텝의 셀상태 ( C ) 와 곱하여 새로운 셀상태 만듬.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" name="Google Shape;133;p22"/>
          <p:cNvSpPr/>
          <p:nvPr/>
        </p:nvSpPr>
        <p:spPr>
          <a:xfrm>
            <a:off x="6568775" y="1350375"/>
            <a:ext cx="2100900" cy="785700"/>
          </a:xfrm>
          <a:prstGeom prst="wedgeRoundRectCallout">
            <a:avLst>
              <a:gd fmla="val -120494" name="adj1"/>
              <a:gd fmla="val 49714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이 셀상태 C 가 tanh 함수를 통과하여 새로운 은닉상태를 만드는게 기여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4" name="Google Shape;134;p22"/>
          <p:cNvSpPr/>
          <p:nvPr/>
        </p:nvSpPr>
        <p:spPr>
          <a:xfrm>
            <a:off x="6873575" y="2123738"/>
            <a:ext cx="2100900" cy="621900"/>
          </a:xfrm>
          <a:prstGeom prst="wedgeRoundRectCallout">
            <a:avLst>
              <a:gd fmla="val -24338" name="adj1"/>
              <a:gd fmla="val -63918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LSTM 은 마치 셀을 여러개 포함하고 있는 큰 셀 같다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5" name="Google Shape;135;p22"/>
          <p:cNvSpPr/>
          <p:nvPr/>
        </p:nvSpPr>
        <p:spPr>
          <a:xfrm>
            <a:off x="6872425" y="2864250"/>
            <a:ext cx="2100900" cy="785700"/>
          </a:xfrm>
          <a:prstGeom prst="wedgeRoundRectCallout">
            <a:avLst>
              <a:gd fmla="val -123956" name="adj1"/>
              <a:gd fmla="val -9199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입력과 은닉상태에 곱해지는 가중치  </a:t>
            </a:r>
            <a:r>
              <a:rPr lang="ko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w0 와 wf 는 다르다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!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6" name="Google Shape;136;p22"/>
          <p:cNvSpPr/>
          <p:nvPr/>
        </p:nvSpPr>
        <p:spPr>
          <a:xfrm>
            <a:off x="6873575" y="3723938"/>
            <a:ext cx="2100900" cy="621900"/>
          </a:xfrm>
          <a:prstGeom prst="wedgeRoundRectCallout">
            <a:avLst>
              <a:gd fmla="val -24338" name="adj1"/>
              <a:gd fmla="val -63918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이 두 작은 셀은 각기 다른 기능을 위해 훈련된다.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9225" y="454400"/>
            <a:ext cx="4265550" cy="423470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3"/>
          <p:cNvSpPr txBox="1"/>
          <p:nvPr/>
        </p:nvSpPr>
        <p:spPr>
          <a:xfrm>
            <a:off x="159300" y="-12175"/>
            <a:ext cx="71739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LSTM 에는 총 </a:t>
            </a:r>
            <a:r>
              <a:rPr b="1" lang="ko" sz="3600">
                <a:solidFill>
                  <a:srgbClr val="0000FF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4개의 셀</a:t>
            </a: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을 갖고 있다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43" name="Google Shape;143;p23"/>
          <p:cNvSpPr/>
          <p:nvPr/>
        </p:nvSpPr>
        <p:spPr>
          <a:xfrm>
            <a:off x="553950" y="1638025"/>
            <a:ext cx="2100900" cy="785700"/>
          </a:xfrm>
          <a:prstGeom prst="wedgeRoundRectCallout">
            <a:avLst>
              <a:gd fmla="val 107061" name="adj1"/>
              <a:gd fmla="val 86067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여기에 2개의 작은 셀이 더 추가되어 </a:t>
            </a:r>
            <a:r>
              <a:rPr b="1" lang="ko" sz="1200">
                <a:latin typeface="Consolas"/>
                <a:ea typeface="Consolas"/>
                <a:cs typeface="Consolas"/>
                <a:sym typeface="Consolas"/>
              </a:rPr>
              <a:t>셀상태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를 만드는데 기여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4" name="Google Shape;144;p23"/>
          <p:cNvSpPr/>
          <p:nvPr/>
        </p:nvSpPr>
        <p:spPr>
          <a:xfrm>
            <a:off x="453900" y="2716200"/>
            <a:ext cx="2100900" cy="2057700"/>
          </a:xfrm>
          <a:prstGeom prst="wedgeRoundRectCallout">
            <a:avLst>
              <a:gd fmla="val 103865" name="adj1"/>
              <a:gd fmla="val -42317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입력과 은닉 상태를 각기 다른 가중치에 곱한 다음.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하나는 </a:t>
            </a:r>
            <a:r>
              <a:rPr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시그모이드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를 통과.  또 다른 하나는 </a:t>
            </a:r>
            <a:r>
              <a:rPr lang="ko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tanh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통과.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그 다음 두 결과를 곱하고 (X)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이전 셀상태과 더합니다(+)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45" name="Google Shape;145;p23"/>
          <p:cNvCxnSpPr/>
          <p:nvPr/>
        </p:nvCxnSpPr>
        <p:spPr>
          <a:xfrm flipH="1" rot="10800000">
            <a:off x="1443800" y="2277150"/>
            <a:ext cx="2760600" cy="2010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" name="Google Shape;146;p23"/>
          <p:cNvCxnSpPr/>
          <p:nvPr/>
        </p:nvCxnSpPr>
        <p:spPr>
          <a:xfrm flipH="1" rot="10800000">
            <a:off x="1488900" y="1481075"/>
            <a:ext cx="2619600" cy="3077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7" name="Google Shape;147;p23"/>
          <p:cNvSpPr/>
          <p:nvPr/>
        </p:nvSpPr>
        <p:spPr>
          <a:xfrm>
            <a:off x="6854275" y="212050"/>
            <a:ext cx="2100900" cy="785700"/>
          </a:xfrm>
          <a:prstGeom prst="wedgeRoundRectCallout">
            <a:avLst>
              <a:gd fmla="val -64183" name="adj1"/>
              <a:gd fmla="val -9278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onsolas"/>
              <a:buChar char="●"/>
            </a:pP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입력게이트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onsolas"/>
              <a:buChar char="●"/>
            </a:pP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삭제(망각)게이트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onsolas"/>
              <a:buChar char="●"/>
            </a:pP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셀 상태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onsolas"/>
              <a:buChar char="●"/>
            </a:pP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출력 게이트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/>
        </p:nvSpPr>
        <p:spPr>
          <a:xfrm>
            <a:off x="235500" y="-1217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삭제 게이트, 입력게이트, 출력게이트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pic>
        <p:nvPicPr>
          <p:cNvPr id="153" name="Google Shape;15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5673" y="745550"/>
            <a:ext cx="5350599" cy="4146574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4"/>
          <p:cNvSpPr txBox="1"/>
          <p:nvPr/>
        </p:nvSpPr>
        <p:spPr>
          <a:xfrm>
            <a:off x="94125" y="503275"/>
            <a:ext cx="4037100" cy="16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3군데 곱셈을 왼쪽부터 차례대로 </a:t>
            </a:r>
            <a:r>
              <a:rPr b="1"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 삭제(망각)게이트 (Forget Gate), </a:t>
            </a:r>
            <a:endParaRPr b="1" sz="18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입력게이트 (Input Gate), </a:t>
            </a:r>
            <a:endParaRPr b="1" sz="18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출력게이트 (Output Gate) 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라고 부릅니다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" name="Google Shape;155;p24"/>
          <p:cNvSpPr/>
          <p:nvPr/>
        </p:nvSpPr>
        <p:spPr>
          <a:xfrm>
            <a:off x="374275" y="2571750"/>
            <a:ext cx="2100900" cy="891900"/>
          </a:xfrm>
          <a:prstGeom prst="wedgeRoundRectCallout">
            <a:avLst>
              <a:gd fmla="val 86052" name="adj1"/>
              <a:gd fmla="val -55462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ko" sz="1200">
                <a:latin typeface="Consolas"/>
                <a:ea typeface="Consolas"/>
                <a:cs typeface="Consolas"/>
                <a:sym typeface="Consolas"/>
              </a:rPr>
              <a:t>삭제게이트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: 셀 상태에 있는 정보를 제거하는 역할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6" name="Google Shape;156;p24"/>
          <p:cNvSpPr/>
          <p:nvPr/>
        </p:nvSpPr>
        <p:spPr>
          <a:xfrm>
            <a:off x="1517275" y="3409950"/>
            <a:ext cx="2100900" cy="891900"/>
          </a:xfrm>
          <a:prstGeom prst="wedgeRoundRectCallout">
            <a:avLst>
              <a:gd fmla="val 51734" name="adj1"/>
              <a:gd fmla="val -87740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ko" sz="1200">
                <a:latin typeface="Consolas"/>
                <a:ea typeface="Consolas"/>
                <a:cs typeface="Consolas"/>
                <a:sym typeface="Consolas"/>
              </a:rPr>
              <a:t>입력게이트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: 새로운 정보를 셀 상태에 추가하는 역할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7" name="Google Shape;157;p24"/>
          <p:cNvSpPr/>
          <p:nvPr/>
        </p:nvSpPr>
        <p:spPr>
          <a:xfrm>
            <a:off x="7187375" y="3196100"/>
            <a:ext cx="1956600" cy="891900"/>
          </a:xfrm>
          <a:prstGeom prst="wedgeRoundRectCallout">
            <a:avLst>
              <a:gd fmla="val -72940" name="adj1"/>
              <a:gd fmla="val -83832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ko" sz="1200">
                <a:latin typeface="Consolas"/>
                <a:ea typeface="Consolas"/>
                <a:cs typeface="Consolas"/>
                <a:sym typeface="Consolas"/>
              </a:rPr>
              <a:t>출력게이트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: 이 셀상태가 다음 은닉 상태로 출력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/>
          <p:nvPr/>
        </p:nvSpPr>
        <p:spPr>
          <a:xfrm>
            <a:off x="983175" y="290500"/>
            <a:ext cx="63633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Simple RNN  과 LSTM 의 step 비교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pic>
        <p:nvPicPr>
          <p:cNvPr id="163" name="Google Shape;16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1228625"/>
            <a:ext cx="3848100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5900" y="1106150"/>
            <a:ext cx="4019550" cy="31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5"/>
          <p:cNvSpPr/>
          <p:nvPr/>
        </p:nvSpPr>
        <p:spPr>
          <a:xfrm>
            <a:off x="6210650" y="887100"/>
            <a:ext cx="1762800" cy="660000"/>
          </a:xfrm>
          <a:prstGeom prst="wedgeRoundRectCallout">
            <a:avLst>
              <a:gd fmla="val -19412" name="adj1"/>
              <a:gd fmla="val 89841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은닉상태(h), 셀상태(C) 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두 상태가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다음 스텝으로 전달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/>
          <p:nvPr/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Keras 의 LSTM 클래스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71" name="Google Shape;171;p26"/>
          <p:cNvSpPr txBox="1"/>
          <p:nvPr/>
        </p:nvSpPr>
        <p:spPr>
          <a:xfrm>
            <a:off x="311700" y="1266325"/>
            <a:ext cx="8520600" cy="17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지금까지의 복잡한 연산을 직접 할 필요 없다.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keras 에는 이미 LSTM 클래스가 준비되어 있다.  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함 만들어 보자!!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GRU</a:t>
            </a:r>
            <a:endParaRPr/>
          </a:p>
        </p:txBody>
      </p:sp>
      <p:sp>
        <p:nvSpPr>
          <p:cNvPr id="177" name="Google Shape;177;p27"/>
          <p:cNvSpPr/>
          <p:nvPr/>
        </p:nvSpPr>
        <p:spPr>
          <a:xfrm>
            <a:off x="3413350" y="1897200"/>
            <a:ext cx="2399100" cy="517500"/>
          </a:xfrm>
          <a:prstGeom prst="wedgeRoundRectCallout">
            <a:avLst>
              <a:gd fmla="val 3023" name="adj1"/>
              <a:gd fmla="val -100877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Gated Recurrent Unit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8" name="Google Shape;178;p27"/>
          <p:cNvSpPr/>
          <p:nvPr/>
        </p:nvSpPr>
        <p:spPr>
          <a:xfrm>
            <a:off x="6156550" y="1897200"/>
            <a:ext cx="2399100" cy="517500"/>
          </a:xfrm>
          <a:prstGeom prst="wedgeRoundRectCallout">
            <a:avLst>
              <a:gd fmla="val -88907" name="adj1"/>
              <a:gd fmla="val -133512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뉴욕대학교 조경현 교수가 발명한 셀 임당.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"/>
          <p:cNvSpPr txBox="1"/>
          <p:nvPr/>
        </p:nvSpPr>
        <p:spPr>
          <a:xfrm>
            <a:off x="311700" y="140225"/>
            <a:ext cx="18930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GRU 구조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84" name="Google Shape;184;p28"/>
          <p:cNvSpPr txBox="1"/>
          <p:nvPr/>
        </p:nvSpPr>
        <p:spPr>
          <a:xfrm>
            <a:off x="263925" y="724900"/>
            <a:ext cx="3183600" cy="11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LSTM 의 간소화(?) 버젼</a:t>
            </a:r>
            <a:b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이 셀은 LSTM 처럼 셀 상태를 계산하지 않고 은닉상태 하나만 포함하고 있습니다.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85" name="Google Shape;18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8125" y="1028450"/>
            <a:ext cx="5221576" cy="378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8"/>
          <p:cNvSpPr/>
          <p:nvPr/>
        </p:nvSpPr>
        <p:spPr>
          <a:xfrm>
            <a:off x="2204700" y="1597275"/>
            <a:ext cx="2546100" cy="815100"/>
          </a:xfrm>
          <a:prstGeom prst="wedgeRoundRectCallout">
            <a:avLst>
              <a:gd fmla="val 78245" name="adj1"/>
              <a:gd fmla="val 142814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GRU셀에는 은닉상태와 입력에 가중치를 곱하고 절편을 더하는 작은셀이 3개 들어있다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7" name="Google Shape;187;p28"/>
          <p:cNvSpPr/>
          <p:nvPr/>
        </p:nvSpPr>
        <p:spPr>
          <a:xfrm>
            <a:off x="1369825" y="2571750"/>
            <a:ext cx="2546100" cy="707400"/>
          </a:xfrm>
          <a:prstGeom prst="wedgeRoundRectCallout">
            <a:avLst>
              <a:gd fmla="val 93836" name="adj1"/>
              <a:gd fmla="val 60302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2개는 sigmoid, </a:t>
            </a:r>
            <a:br>
              <a:rPr lang="ko" sz="1200">
                <a:latin typeface="Consolas"/>
                <a:ea typeface="Consolas"/>
                <a:cs typeface="Consolas"/>
                <a:sym typeface="Consolas"/>
              </a:rPr>
            </a:b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1개는 tanh 활성화 함수 사용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8" name="Google Shape;188;p28"/>
          <p:cNvSpPr/>
          <p:nvPr/>
        </p:nvSpPr>
        <p:spPr>
          <a:xfrm>
            <a:off x="4905863" y="76250"/>
            <a:ext cx="2546100" cy="707400"/>
          </a:xfrm>
          <a:prstGeom prst="wedgeRoundRectCallout">
            <a:avLst>
              <a:gd fmla="val 30946" name="adj1"/>
              <a:gd fmla="val 191342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맨 왼쪽의 Wz 를 사용하는 셀의 출력이 은닉상태 h 에 바로 곱해져 삭</a:t>
            </a:r>
            <a:r>
              <a:rPr lang="ko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제게이트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역할 수행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9" name="Google Shape;189;p28"/>
          <p:cNvSpPr/>
          <p:nvPr/>
        </p:nvSpPr>
        <p:spPr>
          <a:xfrm>
            <a:off x="3662553" y="838250"/>
            <a:ext cx="3255900" cy="707400"/>
          </a:xfrm>
          <a:prstGeom prst="wedgeRoundRectCallout">
            <a:avLst>
              <a:gd fmla="val 29476" name="adj1"/>
              <a:gd fmla="val 142151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1 - Wz 한 값과 Wg 의 출력을 곱 ( X ) 한다 .  이는 입력되는 정보를 제어하는 역할 수행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0" name="Google Shape;190;p28"/>
          <p:cNvSpPr/>
          <p:nvPr/>
        </p:nvSpPr>
        <p:spPr>
          <a:xfrm>
            <a:off x="6923576" y="3044675"/>
            <a:ext cx="1893000" cy="707400"/>
          </a:xfrm>
          <a:prstGeom prst="wedgeRoundRectCallout">
            <a:avLst>
              <a:gd fmla="val -77818" name="adj1"/>
              <a:gd fmla="val -8959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Wr 를 사용하는 셀에서 출력된 값은 Wg 셀이 사용할 은닉상태의 정보를 제어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 txBox="1"/>
          <p:nvPr/>
        </p:nvSpPr>
        <p:spPr>
          <a:xfrm>
            <a:off x="311700" y="64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텐서플로의 기본적으로 구현된  GRU는 GRU 초기 버전입니다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96" name="Google Shape;196;p29"/>
          <p:cNvSpPr txBox="1"/>
          <p:nvPr/>
        </p:nvSpPr>
        <p:spPr>
          <a:xfrm>
            <a:off x="311700" y="1266325"/>
            <a:ext cx="852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앞에서 소개한 GRU 와는 조금 다르다…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97" name="Google Shape;19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050" y="2198625"/>
            <a:ext cx="3806364" cy="2761826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9"/>
          <p:cNvSpPr/>
          <p:nvPr/>
        </p:nvSpPr>
        <p:spPr>
          <a:xfrm>
            <a:off x="311700" y="1703725"/>
            <a:ext cx="2546100" cy="815100"/>
          </a:xfrm>
          <a:prstGeom prst="wedgeRoundRectCallout">
            <a:avLst>
              <a:gd fmla="val 16563" name="adj1"/>
              <a:gd fmla="val 133662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이전에는 가운데 셀의 출력과 은닉상태 h 가 곱해진후 G 셀에 입력되었다.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99" name="Google Shape;199;p29"/>
          <p:cNvPicPr preferRelativeResize="0"/>
          <p:nvPr/>
        </p:nvPicPr>
        <p:blipFill rotWithShape="1">
          <a:blip r:embed="rId4">
            <a:alphaModFix/>
          </a:blip>
          <a:srcRect b="0" l="0" r="3689" t="0"/>
          <a:stretch/>
        </p:blipFill>
        <p:spPr>
          <a:xfrm>
            <a:off x="4648200" y="1779925"/>
            <a:ext cx="4457326" cy="313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/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'이론' vs. '구현'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205" name="Google Shape;205;p30"/>
          <p:cNvSpPr txBox="1"/>
          <p:nvPr/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TF 가 이와 같은 계산 방식을 사용하는 이유는  GPU를 좀더 잘 활용하기 위함.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그러나, 대부분 GRU셀을 소개할때는 전자의 그림을 사용합니다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널리 통용되는 </a:t>
            </a:r>
            <a:r>
              <a:rPr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'이론'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과  실질적인 </a:t>
            </a:r>
            <a:r>
              <a:rPr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'구현' 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에는 차이 나는 경우가 종종 있습니다.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이로 인해 GRU 층의 모델 파라미터 개수를 혼동하진 맙시다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양방향 LSTM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bi-LSTM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2"/>
          <p:cNvSpPr txBox="1"/>
          <p:nvPr/>
        </p:nvSpPr>
        <p:spPr>
          <a:xfrm>
            <a:off x="1476950" y="1518250"/>
            <a:ext cx="6393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79400" marR="660400" rtl="0" algn="l">
              <a:lnSpc>
                <a:spcPct val="115000"/>
              </a:lnSpc>
              <a:spcBef>
                <a:spcPts val="600"/>
              </a:spcBef>
              <a:spcAft>
                <a:spcPts val="500"/>
              </a:spcAft>
              <a:buNone/>
            </a:pPr>
            <a:r>
              <a:rPr lang="ko" sz="2700">
                <a:solidFill>
                  <a:srgbClr val="1F1F1F"/>
                </a:solidFill>
                <a:highlight>
                  <a:srgbClr val="FFFFFF"/>
                </a:highlight>
              </a:rPr>
              <a:t>ios 앱 </a:t>
            </a:r>
            <a:r>
              <a:rPr lang="ko" sz="2700" u="sng">
                <a:solidFill>
                  <a:srgbClr val="0000FF"/>
                </a:solidFill>
                <a:highlight>
                  <a:srgbClr val="FFFFFF"/>
                </a:highlight>
              </a:rPr>
              <a:t>[     ]</a:t>
            </a:r>
            <a:r>
              <a:rPr lang="ko" sz="2700">
                <a:solidFill>
                  <a:srgbClr val="1F1F1F"/>
                </a:solidFill>
                <a:highlight>
                  <a:srgbClr val="FFFFFF"/>
                </a:highlight>
              </a:rPr>
              <a:t>은 맥북이 필요합니다</a:t>
            </a:r>
            <a:endParaRPr sz="2700"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  <p:sp>
        <p:nvSpPr>
          <p:cNvPr id="216" name="Google Shape;216;p32"/>
          <p:cNvSpPr/>
          <p:nvPr/>
        </p:nvSpPr>
        <p:spPr>
          <a:xfrm>
            <a:off x="2195650" y="2409775"/>
            <a:ext cx="1347600" cy="549300"/>
          </a:xfrm>
          <a:prstGeom prst="wedgeRoundRectCallout">
            <a:avLst>
              <a:gd fmla="val 18531" name="adj1"/>
              <a:gd fmla="val -112138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빈 칸에 어떤 말이 들어와야 하나?</a:t>
            </a:r>
            <a:endParaRPr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