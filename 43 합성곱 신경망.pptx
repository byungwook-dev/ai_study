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D08F10-3B12-4C9F-908E-9A57B5ECF22C}">
  <a:tblStyle styleId="{CFD08F10-3B12-4C9F-908E-9A57B5ECF2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9a36ff3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9a36ff3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9a36ff37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9a36ff37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9a36ff37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9a36ff37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9a36ff37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49a36ff37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9950" y="52875"/>
            <a:ext cx="5589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기존 Dense Layer  (Fully Connected Layer)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932050" y="60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56" name="Google Shape;56;p13"/>
          <p:cNvSpPr/>
          <p:nvPr/>
        </p:nvSpPr>
        <p:spPr>
          <a:xfrm>
            <a:off x="932113" y="4981875"/>
            <a:ext cx="412800" cy="412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172350" y="358532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211175" y="88177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172350" y="417062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h100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347075" y="1544625"/>
            <a:ext cx="313500" cy="19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ko">
                <a:solidFill>
                  <a:srgbClr val="595959"/>
                </a:solidFill>
              </a:rPr>
              <a:t>.</a:t>
            </a:r>
            <a:endParaRPr b="1" baseline="-250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211175" y="1491375"/>
            <a:ext cx="585300" cy="5853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" name="Google Shape;62;p13"/>
          <p:cNvCxnSpPr/>
          <p:nvPr/>
        </p:nvCxnSpPr>
        <p:spPr>
          <a:xfrm>
            <a:off x="1344875" y="780525"/>
            <a:ext cx="1866300" cy="3939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 flipH="1" rot="10800000">
            <a:off x="1369775" y="1174425"/>
            <a:ext cx="1841400" cy="738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/>
          <p:nvPr/>
        </p:nvCxnSpPr>
        <p:spPr>
          <a:xfrm flipH="1" rot="10800000">
            <a:off x="1331075" y="1174425"/>
            <a:ext cx="1880100" cy="578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/>
          <p:nvPr/>
        </p:nvCxnSpPr>
        <p:spPr>
          <a:xfrm flipH="1" rot="10800000">
            <a:off x="1350275" y="1174425"/>
            <a:ext cx="1860900" cy="927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/>
          <p:nvPr/>
        </p:nvCxnSpPr>
        <p:spPr>
          <a:xfrm flipH="1" rot="10800000">
            <a:off x="1369775" y="1174425"/>
            <a:ext cx="1841400" cy="132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/>
          <p:nvPr/>
        </p:nvCxnSpPr>
        <p:spPr>
          <a:xfrm flipH="1" rot="10800000">
            <a:off x="1340675" y="1174425"/>
            <a:ext cx="1870500" cy="1830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/>
          <p:nvPr/>
        </p:nvCxnSpPr>
        <p:spPr>
          <a:xfrm flipH="1" rot="10800000">
            <a:off x="1369775" y="1174425"/>
            <a:ext cx="1841400" cy="2247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/>
          <p:nvPr/>
        </p:nvCxnSpPr>
        <p:spPr>
          <a:xfrm flipH="1" rot="10800000">
            <a:off x="1340675" y="1174425"/>
            <a:ext cx="1870500" cy="2655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/>
          <p:nvPr/>
        </p:nvCxnSpPr>
        <p:spPr>
          <a:xfrm flipH="1" rot="10800000">
            <a:off x="1369775" y="1174425"/>
            <a:ext cx="1841400" cy="3111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/>
          <p:nvPr/>
        </p:nvCxnSpPr>
        <p:spPr>
          <a:xfrm flipH="1" rot="10800000">
            <a:off x="1418375" y="1174425"/>
            <a:ext cx="1792800" cy="34605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3"/>
          <p:cNvCxnSpPr/>
          <p:nvPr/>
        </p:nvCxnSpPr>
        <p:spPr>
          <a:xfrm flipH="1" rot="10800000">
            <a:off x="1344913" y="1174575"/>
            <a:ext cx="1866300" cy="4013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3"/>
          <p:cNvSpPr/>
          <p:nvPr/>
        </p:nvSpPr>
        <p:spPr>
          <a:xfrm>
            <a:off x="5542475" y="1273925"/>
            <a:ext cx="3366600" cy="1090200"/>
          </a:xfrm>
          <a:prstGeom prst="wedgeRoundRectCallout">
            <a:avLst>
              <a:gd fmla="val -100148" name="adj1"/>
              <a:gd fmla="val -52369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3 x w1 + 1 x w2 + …..    5 x w10 + b</a:t>
            </a:r>
            <a:endParaRPr sz="1300"/>
          </a:p>
        </p:txBody>
      </p:sp>
      <p:cxnSp>
        <p:nvCxnSpPr>
          <p:cNvPr id="74" name="Google Shape;74;p13"/>
          <p:cNvCxnSpPr/>
          <p:nvPr/>
        </p:nvCxnSpPr>
        <p:spPr>
          <a:xfrm>
            <a:off x="3796475" y="1174425"/>
            <a:ext cx="804900" cy="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/>
          <p:nvPr/>
        </p:nvCxnSpPr>
        <p:spPr>
          <a:xfrm>
            <a:off x="3757650" y="3877975"/>
            <a:ext cx="8436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/>
          <p:nvPr/>
        </p:nvCxnSpPr>
        <p:spPr>
          <a:xfrm flipH="1" rot="10800000">
            <a:off x="3757650" y="4450675"/>
            <a:ext cx="834000" cy="12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/>
          <p:nvPr/>
        </p:nvCxnSpPr>
        <p:spPr>
          <a:xfrm>
            <a:off x="3796475" y="1784025"/>
            <a:ext cx="804900" cy="57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Google Shape;82;p14"/>
          <p:cNvGraphicFramePr/>
          <p:nvPr/>
        </p:nvGraphicFramePr>
        <p:xfrm>
          <a:off x="1008250" y="30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3" name="Google Shape;83;p14"/>
          <p:cNvSpPr/>
          <p:nvPr/>
        </p:nvSpPr>
        <p:spPr>
          <a:xfrm>
            <a:off x="1529400" y="375075"/>
            <a:ext cx="264000" cy="116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2075600" y="732425"/>
            <a:ext cx="4870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3 x w1 + 1 x w2 + 0 x w3 + b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1605600" y="832275"/>
            <a:ext cx="264000" cy="116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2151800" y="1189625"/>
            <a:ext cx="4870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1 x w1 + 0 x w2 + 7 x w3 + b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/>
        </p:nvSpPr>
        <p:spPr>
          <a:xfrm>
            <a:off x="1145175" y="50475"/>
            <a:ext cx="33093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합성곱 (Convolution)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92" name="Google Shape;92;p15"/>
          <p:cNvGraphicFramePr/>
          <p:nvPr/>
        </p:nvGraphicFramePr>
        <p:xfrm>
          <a:off x="940325" y="5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412925"/>
              </a:tblGrid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0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8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</a:t>
                      </a:r>
                      <a:endParaRPr sz="1300"/>
                    </a:p>
                  </a:txBody>
                  <a:tcPr marT="0" marB="0" marR="0" marL="0" anchor="ctr"/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</a:t>
                      </a:r>
                      <a:endParaRPr sz="1300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93" name="Google Shape;93;p15"/>
          <p:cNvSpPr/>
          <p:nvPr/>
        </p:nvSpPr>
        <p:spPr>
          <a:xfrm>
            <a:off x="3211175" y="6531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4" name="Google Shape;94;p15"/>
          <p:cNvCxnSpPr>
            <a:endCxn id="93" idx="2"/>
          </p:cNvCxnSpPr>
          <p:nvPr/>
        </p:nvCxnSpPr>
        <p:spPr>
          <a:xfrm>
            <a:off x="1378175" y="672975"/>
            <a:ext cx="1833000" cy="213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5"/>
          <p:cNvCxnSpPr>
            <a:endCxn id="93" idx="2"/>
          </p:cNvCxnSpPr>
          <p:nvPr/>
        </p:nvCxnSpPr>
        <p:spPr>
          <a:xfrm flipH="1" rot="10800000">
            <a:off x="1368275" y="8865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5"/>
          <p:cNvSpPr/>
          <p:nvPr/>
        </p:nvSpPr>
        <p:spPr>
          <a:xfrm>
            <a:off x="3211175" y="11392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211175" y="16252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211175" y="21113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9" name="Google Shape;99;p15"/>
          <p:cNvCxnSpPr>
            <a:endCxn id="93" idx="2"/>
          </p:cNvCxnSpPr>
          <p:nvPr/>
        </p:nvCxnSpPr>
        <p:spPr>
          <a:xfrm flipH="1" rot="10800000">
            <a:off x="1349075" y="8865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5"/>
          <p:cNvSpPr/>
          <p:nvPr/>
        </p:nvSpPr>
        <p:spPr>
          <a:xfrm>
            <a:off x="3211175" y="25581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211175" y="30442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211175" y="353027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211175" y="4016325"/>
            <a:ext cx="466800" cy="466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5"/>
          <p:cNvCxnSpPr>
            <a:stCxn id="93" idx="6"/>
          </p:cNvCxnSpPr>
          <p:nvPr/>
        </p:nvCxnSpPr>
        <p:spPr>
          <a:xfrm>
            <a:off x="3677975" y="8865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5"/>
          <p:cNvCxnSpPr/>
          <p:nvPr/>
        </p:nvCxnSpPr>
        <p:spPr>
          <a:xfrm>
            <a:off x="3677975" y="18771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3677975" y="23343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5"/>
          <p:cNvCxnSpPr/>
          <p:nvPr/>
        </p:nvCxnSpPr>
        <p:spPr>
          <a:xfrm>
            <a:off x="3677975" y="13437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5"/>
          <p:cNvCxnSpPr/>
          <p:nvPr/>
        </p:nvCxnSpPr>
        <p:spPr>
          <a:xfrm>
            <a:off x="3677975" y="27915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5"/>
          <p:cNvCxnSpPr/>
          <p:nvPr/>
        </p:nvCxnSpPr>
        <p:spPr>
          <a:xfrm>
            <a:off x="3677975" y="37821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5"/>
          <p:cNvCxnSpPr/>
          <p:nvPr/>
        </p:nvCxnSpPr>
        <p:spPr>
          <a:xfrm>
            <a:off x="3677975" y="42393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3677975" y="3248775"/>
            <a:ext cx="894000" cy="3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5"/>
          <p:cNvCxnSpPr>
            <a:endCxn id="96" idx="2"/>
          </p:cNvCxnSpPr>
          <p:nvPr/>
        </p:nvCxnSpPr>
        <p:spPr>
          <a:xfrm>
            <a:off x="1368275" y="1148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/>
          <p:nvPr/>
        </p:nvCxnSpPr>
        <p:spPr>
          <a:xfrm>
            <a:off x="1368275" y="16819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5"/>
          <p:cNvCxnSpPr/>
          <p:nvPr/>
        </p:nvCxnSpPr>
        <p:spPr>
          <a:xfrm>
            <a:off x="1368275" y="21391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368275" y="25201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5"/>
          <p:cNvCxnSpPr/>
          <p:nvPr/>
        </p:nvCxnSpPr>
        <p:spPr>
          <a:xfrm>
            <a:off x="1368275" y="29773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1368275" y="3434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1368275" y="3815525"/>
            <a:ext cx="1842900" cy="2241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5"/>
          <p:cNvCxnSpPr/>
          <p:nvPr/>
        </p:nvCxnSpPr>
        <p:spPr>
          <a:xfrm flipH="1" rot="10800000">
            <a:off x="1368275" y="14199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5"/>
          <p:cNvCxnSpPr/>
          <p:nvPr/>
        </p:nvCxnSpPr>
        <p:spPr>
          <a:xfrm flipH="1" rot="10800000">
            <a:off x="1368275" y="18771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5"/>
          <p:cNvCxnSpPr/>
          <p:nvPr/>
        </p:nvCxnSpPr>
        <p:spPr>
          <a:xfrm flipH="1" rot="10800000">
            <a:off x="1368275" y="23343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5"/>
          <p:cNvCxnSpPr/>
          <p:nvPr/>
        </p:nvCxnSpPr>
        <p:spPr>
          <a:xfrm flipH="1" rot="10800000">
            <a:off x="1368275" y="27915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5"/>
          <p:cNvCxnSpPr/>
          <p:nvPr/>
        </p:nvCxnSpPr>
        <p:spPr>
          <a:xfrm flipH="1" rot="10800000">
            <a:off x="1368275" y="32487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5"/>
          <p:cNvCxnSpPr/>
          <p:nvPr/>
        </p:nvCxnSpPr>
        <p:spPr>
          <a:xfrm flipH="1" rot="10800000">
            <a:off x="1368275" y="3629775"/>
            <a:ext cx="1842900" cy="25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5"/>
          <p:cNvCxnSpPr>
            <a:endCxn id="103" idx="1"/>
          </p:cNvCxnSpPr>
          <p:nvPr/>
        </p:nvCxnSpPr>
        <p:spPr>
          <a:xfrm flipH="1" rot="10800000">
            <a:off x="1368236" y="4084686"/>
            <a:ext cx="1911300" cy="102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5"/>
          <p:cNvCxnSpPr/>
          <p:nvPr/>
        </p:nvCxnSpPr>
        <p:spPr>
          <a:xfrm flipH="1" rot="10800000">
            <a:off x="1349075" y="14199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5"/>
          <p:cNvCxnSpPr/>
          <p:nvPr/>
        </p:nvCxnSpPr>
        <p:spPr>
          <a:xfrm flipH="1" rot="10800000">
            <a:off x="1349075" y="18771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5"/>
          <p:cNvCxnSpPr/>
          <p:nvPr/>
        </p:nvCxnSpPr>
        <p:spPr>
          <a:xfrm flipH="1" rot="10800000">
            <a:off x="1272875" y="23343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5"/>
          <p:cNvCxnSpPr/>
          <p:nvPr/>
        </p:nvCxnSpPr>
        <p:spPr>
          <a:xfrm flipH="1" rot="10800000">
            <a:off x="1349075" y="27915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5"/>
          <p:cNvCxnSpPr/>
          <p:nvPr/>
        </p:nvCxnSpPr>
        <p:spPr>
          <a:xfrm flipH="1" rot="10800000">
            <a:off x="1349075" y="32487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1349075" y="36297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15"/>
          <p:cNvCxnSpPr/>
          <p:nvPr/>
        </p:nvCxnSpPr>
        <p:spPr>
          <a:xfrm flipH="1" rot="10800000">
            <a:off x="1349075" y="4086975"/>
            <a:ext cx="1862100" cy="679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15"/>
          <p:cNvSpPr/>
          <p:nvPr/>
        </p:nvSpPr>
        <p:spPr>
          <a:xfrm>
            <a:off x="3406350" y="15543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406350" y="10209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406350" y="24687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406350" y="20115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406350" y="34593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406350" y="39165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406350" y="2925925"/>
            <a:ext cx="135900" cy="213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892200" y="1864425"/>
            <a:ext cx="2871000" cy="1485600"/>
          </a:xfrm>
          <a:prstGeom prst="wedgeRoundRectCallout">
            <a:avLst>
              <a:gd fmla="val -79458" name="adj1"/>
              <a:gd fmla="val 23220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뉴런이 8개란 뜻이 아니다!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동일 뉴런 (weight , bias) 사용하여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8번의 계산을 통해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8개의 출력을 만들어 냄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2397075" y="147500"/>
            <a:ext cx="36030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595959"/>
                </a:solidFill>
              </a:rPr>
              <a:t>패딩을 사용하는 이유</a:t>
            </a:r>
            <a:endParaRPr sz="2100">
              <a:solidFill>
                <a:srgbClr val="595959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57025" y="882175"/>
            <a:ext cx="3496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패딩을 사용하지 안는 경우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47" name="Google Shape;147;p16"/>
          <p:cNvGraphicFramePr/>
          <p:nvPr/>
        </p:nvGraphicFramePr>
        <p:xfrm>
          <a:off x="2140625" y="158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Google Shape;148;p16"/>
          <p:cNvGraphicFramePr/>
          <p:nvPr/>
        </p:nvGraphicFramePr>
        <p:xfrm>
          <a:off x="2140625" y="158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16"/>
          <p:cNvGraphicFramePr/>
          <p:nvPr/>
        </p:nvGraphicFramePr>
        <p:xfrm>
          <a:off x="2523475" y="158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Google Shape;150;p16"/>
          <p:cNvGraphicFramePr/>
          <p:nvPr/>
        </p:nvGraphicFramePr>
        <p:xfrm>
          <a:off x="2140625" y="196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Google Shape;151;p16"/>
          <p:cNvGraphicFramePr/>
          <p:nvPr/>
        </p:nvGraphicFramePr>
        <p:xfrm>
          <a:off x="2523475" y="196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6"/>
          <p:cNvSpPr/>
          <p:nvPr/>
        </p:nvSpPr>
        <p:spPr>
          <a:xfrm>
            <a:off x="231600" y="2070075"/>
            <a:ext cx="1641000" cy="873000"/>
          </a:xfrm>
          <a:prstGeom prst="wedgeRoundRectCallout">
            <a:avLst>
              <a:gd fmla="val 70859" name="adj1"/>
              <a:gd fmla="val -89602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모서리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합성곱 계산에 </a:t>
            </a:r>
            <a:r>
              <a:rPr b="1" lang="ko" sz="1100"/>
              <a:t>1번</a:t>
            </a:r>
            <a:r>
              <a:rPr lang="ko" sz="1100"/>
              <a:t>밖에 참여 못함</a:t>
            </a:r>
            <a:endParaRPr sz="1100"/>
          </a:p>
        </p:txBody>
      </p:sp>
      <p:sp>
        <p:nvSpPr>
          <p:cNvPr id="153" name="Google Shape;153;p16"/>
          <p:cNvSpPr/>
          <p:nvPr/>
        </p:nvSpPr>
        <p:spPr>
          <a:xfrm>
            <a:off x="2215350" y="3049100"/>
            <a:ext cx="1641000" cy="566400"/>
          </a:xfrm>
          <a:prstGeom prst="wedgeRoundRectCallout">
            <a:avLst>
              <a:gd fmla="val -15535" name="adj1"/>
              <a:gd fmla="val -18540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중앙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합성곱 계산에 </a:t>
            </a:r>
            <a:r>
              <a:rPr b="1" lang="ko" sz="1100"/>
              <a:t>4번</a:t>
            </a:r>
            <a:r>
              <a:rPr lang="ko" sz="1100"/>
              <a:t> 참여</a:t>
            </a:r>
            <a:endParaRPr sz="1100"/>
          </a:p>
        </p:txBody>
      </p:sp>
      <p:sp>
        <p:nvSpPr>
          <p:cNvPr id="154" name="Google Shape;154;p16"/>
          <p:cNvSpPr/>
          <p:nvPr/>
        </p:nvSpPr>
        <p:spPr>
          <a:xfrm>
            <a:off x="756075" y="3780675"/>
            <a:ext cx="1641000" cy="873000"/>
          </a:xfrm>
          <a:prstGeom prst="wedgeRoundRectCallout">
            <a:avLst>
              <a:gd fmla="val 34033" name="adj1"/>
              <a:gd fmla="val -9932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무려 x4 배! 차</a:t>
            </a:r>
            <a:endParaRPr sz="1100"/>
          </a:p>
        </p:txBody>
      </p:sp>
      <p:sp>
        <p:nvSpPr>
          <p:cNvPr id="155" name="Google Shape;155;p16"/>
          <p:cNvSpPr/>
          <p:nvPr/>
        </p:nvSpPr>
        <p:spPr>
          <a:xfrm>
            <a:off x="4107950" y="2718950"/>
            <a:ext cx="1962000" cy="1226700"/>
          </a:xfrm>
          <a:prstGeom prst="wedgeRoundRectCallout">
            <a:avLst>
              <a:gd fmla="val -52147" name="adj1"/>
              <a:gd fmla="val -99674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패딩을 사용하지 않으면 합성곱 계산에 많이 참여하는 원소들도 있고 그렇지 못한 원소들도 발생한다.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521150" y="290200"/>
            <a:ext cx="3496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패딩을 사용하는 경우</a:t>
            </a:r>
            <a:endParaRPr sz="1800">
              <a:solidFill>
                <a:srgbClr val="595959"/>
              </a:solidFill>
            </a:endParaRPr>
          </a:p>
        </p:txBody>
      </p:sp>
      <p:graphicFrame>
        <p:nvGraphicFramePr>
          <p:cNvPr id="161" name="Google Shape;161;p17"/>
          <p:cNvGraphicFramePr/>
          <p:nvPr/>
        </p:nvGraphicFramePr>
        <p:xfrm>
          <a:off x="15568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2" name="Google Shape;162;p17"/>
          <p:cNvGraphicFramePr/>
          <p:nvPr/>
        </p:nvGraphicFramePr>
        <p:xfrm>
          <a:off x="15568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" name="Google Shape;163;p17"/>
          <p:cNvGraphicFramePr/>
          <p:nvPr/>
        </p:nvGraphicFramePr>
        <p:xfrm>
          <a:off x="193972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4" name="Google Shape;164;p17"/>
          <p:cNvGraphicFramePr/>
          <p:nvPr/>
        </p:nvGraphicFramePr>
        <p:xfrm>
          <a:off x="232257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17"/>
          <p:cNvGraphicFramePr/>
          <p:nvPr/>
        </p:nvGraphicFramePr>
        <p:xfrm>
          <a:off x="2705425" y="11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17"/>
          <p:cNvGraphicFramePr/>
          <p:nvPr/>
        </p:nvGraphicFramePr>
        <p:xfrm>
          <a:off x="1520675" y="157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" name="Google Shape;167;p17"/>
          <p:cNvGraphicFramePr/>
          <p:nvPr/>
        </p:nvGraphicFramePr>
        <p:xfrm>
          <a:off x="1939725" y="156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{CFD08F10-3B12-4C9F-908E-9A57B5ECF22C}</a:tableStyleId>
              </a:tblPr>
              <a:tblGrid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>
                        <a:alpha val="8176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17"/>
          <p:cNvSpPr/>
          <p:nvPr/>
        </p:nvSpPr>
        <p:spPr>
          <a:xfrm>
            <a:off x="46875" y="2571750"/>
            <a:ext cx="1641000" cy="870600"/>
          </a:xfrm>
          <a:prstGeom prst="wedgeRoundRectCallout">
            <a:avLst>
              <a:gd fmla="val 69119" name="adj1"/>
              <a:gd fmla="val -147335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모서리 데이터가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4번</a:t>
            </a:r>
            <a:r>
              <a:rPr lang="ko" sz="1100"/>
              <a:t> 참여한다.</a:t>
            </a:r>
            <a:endParaRPr sz="1100"/>
          </a:p>
        </p:txBody>
      </p:sp>
      <p:sp>
        <p:nvSpPr>
          <p:cNvPr id="169" name="Google Shape;169;p17"/>
          <p:cNvSpPr/>
          <p:nvPr/>
        </p:nvSpPr>
        <p:spPr>
          <a:xfrm>
            <a:off x="2028500" y="3160950"/>
            <a:ext cx="1641000" cy="966900"/>
          </a:xfrm>
          <a:prstGeom prst="wedgeRoundRectCallout">
            <a:avLst>
              <a:gd fmla="val -16391" name="adj1"/>
              <a:gd fmla="val -11554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중앙 데이터는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9번</a:t>
            </a:r>
            <a:r>
              <a:rPr lang="ko" sz="1100"/>
              <a:t> 참여한다.</a:t>
            </a:r>
            <a:endParaRPr sz="1100"/>
          </a:p>
        </p:txBody>
      </p:sp>
      <p:sp>
        <p:nvSpPr>
          <p:cNvPr id="170" name="Google Shape;170;p17"/>
          <p:cNvSpPr/>
          <p:nvPr/>
        </p:nvSpPr>
        <p:spPr>
          <a:xfrm>
            <a:off x="298725" y="3865350"/>
            <a:ext cx="2670900" cy="870600"/>
          </a:xfrm>
          <a:prstGeom prst="wedgeRoundRectCallout">
            <a:avLst>
              <a:gd fmla="val 43569" name="adj1"/>
              <a:gd fmla="val -10255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데이터 참여 격차비율이 많이 줄어든다!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highlight>
                  <a:srgbClr val="FFFF00"/>
                </a:highlight>
              </a:rPr>
              <a:t>(</a:t>
            </a:r>
            <a:r>
              <a:rPr b="1" lang="ko" sz="1100">
                <a:highlight>
                  <a:srgbClr val="FFFF00"/>
                </a:highlight>
              </a:rPr>
              <a:t>패딩을 사용하는 이유다!</a:t>
            </a:r>
            <a:endParaRPr b="1" sz="11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