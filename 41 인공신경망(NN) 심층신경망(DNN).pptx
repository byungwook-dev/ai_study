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02132A-6F9C-4331-A587-A4FF0F97318F}">
  <a:tblStyle styleId="{7902132A-6F9C-4331-A587-A4FF0F9731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slide" Target="slides/slide4.xml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7ef6ed42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7ef6ed42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7ef6ed42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7ef6ed42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7ef6ed4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7ef6ed4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84400" y="-24300"/>
            <a:ext cx="576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LogisticRegression 에서의 선형방정식(들)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1354025" y="130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{7902132A-6F9C-4331-A587-A4FF0F97318F}</a:tableStyleId>
              </a:tblPr>
              <a:tblGrid>
                <a:gridCol w="412925"/>
              </a:tblGrid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px1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px2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px3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.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.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.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.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.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.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.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px784</a:t>
                      </a:r>
                      <a:endParaRPr sz="9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6" name="Google Shape;56;p13"/>
          <p:cNvSpPr/>
          <p:nvPr/>
        </p:nvSpPr>
        <p:spPr>
          <a:xfrm>
            <a:off x="5206300" y="1612925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5206300" y="2222525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5206300" y="927125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5206300" y="3594125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z10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369850" y="2908325"/>
            <a:ext cx="31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595959"/>
              </a:solidFill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600" y="730085"/>
            <a:ext cx="1062325" cy="968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3"/>
          <p:cNvCxnSpPr/>
          <p:nvPr/>
        </p:nvCxnSpPr>
        <p:spPr>
          <a:xfrm>
            <a:off x="5791600" y="1219775"/>
            <a:ext cx="804900" cy="11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/>
          <p:nvPr/>
        </p:nvCxnSpPr>
        <p:spPr>
          <a:xfrm flipH="1" rot="10800000">
            <a:off x="5791600" y="1903175"/>
            <a:ext cx="761700" cy="24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3"/>
          <p:cNvCxnSpPr/>
          <p:nvPr/>
        </p:nvCxnSpPr>
        <p:spPr>
          <a:xfrm>
            <a:off x="5791600" y="2515175"/>
            <a:ext cx="787200" cy="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/>
          <p:nvPr/>
        </p:nvCxnSpPr>
        <p:spPr>
          <a:xfrm>
            <a:off x="5791600" y="3886775"/>
            <a:ext cx="804900" cy="11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1050" y="3436363"/>
            <a:ext cx="990600" cy="1076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13"/>
          <p:cNvCxnSpPr/>
          <p:nvPr/>
        </p:nvCxnSpPr>
        <p:spPr>
          <a:xfrm flipH="1" rot="10800000">
            <a:off x="1890100" y="1219775"/>
            <a:ext cx="3316200" cy="3045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3"/>
          <p:cNvSpPr txBox="1"/>
          <p:nvPr/>
        </p:nvSpPr>
        <p:spPr>
          <a:xfrm>
            <a:off x="2451650" y="1042338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x w1</a:t>
            </a:r>
            <a:endParaRPr/>
          </a:p>
        </p:txBody>
      </p:sp>
      <p:cxnSp>
        <p:nvCxnSpPr>
          <p:cNvPr id="69" name="Google Shape;69;p13"/>
          <p:cNvCxnSpPr/>
          <p:nvPr/>
        </p:nvCxnSpPr>
        <p:spPr>
          <a:xfrm flipH="1" rot="10800000">
            <a:off x="1900300" y="1219775"/>
            <a:ext cx="3306000" cy="7854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3"/>
          <p:cNvSpPr txBox="1"/>
          <p:nvPr/>
        </p:nvSpPr>
        <p:spPr>
          <a:xfrm>
            <a:off x="2451650" y="1499538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x w2</a:t>
            </a:r>
            <a:endParaRPr/>
          </a:p>
        </p:txBody>
      </p:sp>
      <p:cxnSp>
        <p:nvCxnSpPr>
          <p:cNvPr id="71" name="Google Shape;71;p13"/>
          <p:cNvCxnSpPr/>
          <p:nvPr/>
        </p:nvCxnSpPr>
        <p:spPr>
          <a:xfrm flipH="1" rot="10800000">
            <a:off x="1818100" y="1219775"/>
            <a:ext cx="3388200" cy="2931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3"/>
          <p:cNvCxnSpPr/>
          <p:nvPr/>
        </p:nvCxnSpPr>
        <p:spPr>
          <a:xfrm flipH="1" rot="10800000">
            <a:off x="1849000" y="1219775"/>
            <a:ext cx="3357300" cy="2520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" name="Google Shape;73;p13"/>
          <p:cNvSpPr txBox="1"/>
          <p:nvPr/>
        </p:nvSpPr>
        <p:spPr>
          <a:xfrm>
            <a:off x="2357650" y="2721900"/>
            <a:ext cx="11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x w783</a:t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411400" y="3278375"/>
            <a:ext cx="11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x w784</a:t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4539250" y="577700"/>
            <a:ext cx="60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+b</a:t>
            </a:r>
            <a:endParaRPr/>
          </a:p>
        </p:txBody>
      </p:sp>
      <p:cxnSp>
        <p:nvCxnSpPr>
          <p:cNvPr id="76" name="Google Shape;76;p13"/>
          <p:cNvCxnSpPr/>
          <p:nvPr/>
        </p:nvCxnSpPr>
        <p:spPr>
          <a:xfrm>
            <a:off x="4920315" y="826840"/>
            <a:ext cx="371700" cy="186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3"/>
          <p:cNvCxnSpPr/>
          <p:nvPr/>
        </p:nvCxnSpPr>
        <p:spPr>
          <a:xfrm>
            <a:off x="1911300" y="1598425"/>
            <a:ext cx="3380700" cy="2081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3"/>
          <p:cNvCxnSpPr/>
          <p:nvPr/>
        </p:nvCxnSpPr>
        <p:spPr>
          <a:xfrm>
            <a:off x="1859415" y="1933240"/>
            <a:ext cx="3432600" cy="1746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3"/>
          <p:cNvSpPr txBox="1"/>
          <p:nvPr/>
        </p:nvSpPr>
        <p:spPr>
          <a:xfrm>
            <a:off x="3931525" y="2597388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x w1`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3905050" y="2894513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x w2`</a:t>
            </a:r>
            <a:endParaRPr>
              <a:solidFill>
                <a:srgbClr val="980000"/>
              </a:solidFill>
            </a:endParaRPr>
          </a:p>
        </p:txBody>
      </p:sp>
      <p:cxnSp>
        <p:nvCxnSpPr>
          <p:cNvPr id="81" name="Google Shape;81;p13"/>
          <p:cNvCxnSpPr/>
          <p:nvPr/>
        </p:nvCxnSpPr>
        <p:spPr>
          <a:xfrm>
            <a:off x="1879900" y="3791375"/>
            <a:ext cx="3326400" cy="95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3"/>
          <p:cNvCxnSpPr/>
          <p:nvPr/>
        </p:nvCxnSpPr>
        <p:spPr>
          <a:xfrm flipH="1" rot="10800000">
            <a:off x="1869700" y="3886775"/>
            <a:ext cx="3336600" cy="3153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3"/>
          <p:cNvSpPr txBox="1"/>
          <p:nvPr/>
        </p:nvSpPr>
        <p:spPr>
          <a:xfrm>
            <a:off x="3813550" y="3534975"/>
            <a:ext cx="10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x w783`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3813550" y="3915975"/>
            <a:ext cx="10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x w784`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713275" y="4330675"/>
            <a:ext cx="60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+ b`</a:t>
            </a:r>
            <a:endParaRPr>
              <a:solidFill>
                <a:srgbClr val="980000"/>
              </a:solidFill>
            </a:endParaRPr>
          </a:p>
        </p:txBody>
      </p:sp>
      <p:cxnSp>
        <p:nvCxnSpPr>
          <p:cNvPr id="86" name="Google Shape;86;p13"/>
          <p:cNvCxnSpPr/>
          <p:nvPr/>
        </p:nvCxnSpPr>
        <p:spPr>
          <a:xfrm flipH="1" rot="10800000">
            <a:off x="5078115" y="4093710"/>
            <a:ext cx="213900" cy="2973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3"/>
          <p:cNvSpPr txBox="1"/>
          <p:nvPr/>
        </p:nvSpPr>
        <p:spPr>
          <a:xfrm>
            <a:off x="348575" y="4597925"/>
            <a:ext cx="868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'티셔츠'를 계산하기 위해 픽셀784개와 곱하는 가중치 784개(w1~w784) 와 절편(b) 은</a:t>
            </a:r>
            <a:endParaRPr sz="12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'바지'를 계산하기 위해 픽셀784개와 곱하는 가중치 784개(w1`~w784`) 와 절편(b`) 와는 '다르다'</a:t>
            </a:r>
            <a:endParaRPr sz="12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14"/>
          <p:cNvGraphicFramePr/>
          <p:nvPr/>
        </p:nvGraphicFramePr>
        <p:xfrm>
          <a:off x="739025" y="73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{7902132A-6F9C-4331-A587-A4FF0F97318F}</a:tableStyleId>
              </a:tblPr>
              <a:tblGrid>
                <a:gridCol w="412925"/>
              </a:tblGrid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px1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px2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px3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.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.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.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.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.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.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.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px784</a:t>
                      </a:r>
                      <a:endParaRPr sz="9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9300" y="673938"/>
            <a:ext cx="12954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1950" y="2976488"/>
            <a:ext cx="990600" cy="1076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4"/>
          <p:cNvCxnSpPr>
            <a:stCxn id="96" idx="6"/>
          </p:cNvCxnSpPr>
          <p:nvPr/>
        </p:nvCxnSpPr>
        <p:spPr>
          <a:xfrm>
            <a:off x="2094475" y="941350"/>
            <a:ext cx="2607600" cy="30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4"/>
          <p:cNvCxnSpPr>
            <a:stCxn id="98" idx="6"/>
          </p:cNvCxnSpPr>
          <p:nvPr/>
        </p:nvCxnSpPr>
        <p:spPr>
          <a:xfrm flipH="1" rot="10800000">
            <a:off x="2094475" y="1388050"/>
            <a:ext cx="2525400" cy="239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4"/>
          <p:cNvCxnSpPr>
            <a:stCxn id="100" idx="7"/>
          </p:cNvCxnSpPr>
          <p:nvPr/>
        </p:nvCxnSpPr>
        <p:spPr>
          <a:xfrm flipH="1" rot="10800000">
            <a:off x="2008760" y="1634415"/>
            <a:ext cx="2713800" cy="19194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4"/>
          <p:cNvCxnSpPr>
            <a:stCxn id="102" idx="7"/>
          </p:cNvCxnSpPr>
          <p:nvPr/>
        </p:nvCxnSpPr>
        <p:spPr>
          <a:xfrm flipH="1" rot="10800000">
            <a:off x="2008760" y="1490715"/>
            <a:ext cx="2662500" cy="14535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14"/>
          <p:cNvSpPr txBox="1"/>
          <p:nvPr/>
        </p:nvSpPr>
        <p:spPr>
          <a:xfrm>
            <a:off x="2070650" y="602525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x w1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2070650" y="1118538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x w2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976650" y="2340900"/>
            <a:ext cx="11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x w783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2395975" y="2965550"/>
            <a:ext cx="11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x w784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1509175" y="-3710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8" name="Google Shape;108;p14"/>
          <p:cNvCxnSpPr>
            <a:stCxn id="107" idx="6"/>
          </p:cNvCxnSpPr>
          <p:nvPr/>
        </p:nvCxnSpPr>
        <p:spPr>
          <a:xfrm>
            <a:off x="2094475" y="255550"/>
            <a:ext cx="2576700" cy="7875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4"/>
          <p:cNvCxnSpPr>
            <a:stCxn id="96" idx="5"/>
            <a:endCxn id="110" idx="1"/>
          </p:cNvCxnSpPr>
          <p:nvPr/>
        </p:nvCxnSpPr>
        <p:spPr>
          <a:xfrm>
            <a:off x="2008760" y="1148285"/>
            <a:ext cx="2902200" cy="21507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4"/>
          <p:cNvCxnSpPr>
            <a:stCxn id="98" idx="6"/>
            <a:endCxn id="110" idx="1"/>
          </p:cNvCxnSpPr>
          <p:nvPr/>
        </p:nvCxnSpPr>
        <p:spPr>
          <a:xfrm>
            <a:off x="2094475" y="1627150"/>
            <a:ext cx="2816400" cy="1671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4"/>
          <p:cNvCxnSpPr>
            <a:stCxn id="102" idx="6"/>
            <a:endCxn id="110" idx="2"/>
          </p:cNvCxnSpPr>
          <p:nvPr/>
        </p:nvCxnSpPr>
        <p:spPr>
          <a:xfrm>
            <a:off x="2094475" y="3151150"/>
            <a:ext cx="2730900" cy="354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4"/>
          <p:cNvCxnSpPr>
            <a:stCxn id="100" idx="6"/>
            <a:endCxn id="110" idx="2"/>
          </p:cNvCxnSpPr>
          <p:nvPr/>
        </p:nvCxnSpPr>
        <p:spPr>
          <a:xfrm flipH="1" rot="10800000">
            <a:off x="2094475" y="3505750"/>
            <a:ext cx="2730900" cy="255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4"/>
          <p:cNvSpPr txBox="1"/>
          <p:nvPr/>
        </p:nvSpPr>
        <p:spPr>
          <a:xfrm>
            <a:off x="3550525" y="2063988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x w1`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3432550" y="3153975"/>
            <a:ext cx="10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x w783`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3432550" y="3534975"/>
            <a:ext cx="10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x w784`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3524050" y="2513513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x w2`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2275750" y="56775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x b</a:t>
            </a:r>
            <a:endParaRPr/>
          </a:p>
        </p:txBody>
      </p:sp>
      <p:cxnSp>
        <p:nvCxnSpPr>
          <p:cNvPr id="119" name="Google Shape;119;p14"/>
          <p:cNvCxnSpPr>
            <a:stCxn id="107" idx="6"/>
            <a:endCxn id="110" idx="1"/>
          </p:cNvCxnSpPr>
          <p:nvPr/>
        </p:nvCxnSpPr>
        <p:spPr>
          <a:xfrm>
            <a:off x="2094475" y="255550"/>
            <a:ext cx="2816400" cy="30432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4"/>
          <p:cNvSpPr txBox="1"/>
          <p:nvPr/>
        </p:nvSpPr>
        <p:spPr>
          <a:xfrm>
            <a:off x="3550525" y="1595475"/>
            <a:ext cx="60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x b`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1077975" y="4419575"/>
            <a:ext cx="1925400" cy="549300"/>
          </a:xfrm>
          <a:prstGeom prst="wedgeRoundRectCallout">
            <a:avLst>
              <a:gd fmla="val -14735" name="adj1"/>
              <a:gd fmla="val -96864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입력층 Input Layer</a:t>
            </a:r>
            <a:endParaRPr sz="1700"/>
          </a:p>
        </p:txBody>
      </p:sp>
      <p:sp>
        <p:nvSpPr>
          <p:cNvPr id="122" name="Google Shape;122;p14"/>
          <p:cNvSpPr/>
          <p:nvPr/>
        </p:nvSpPr>
        <p:spPr>
          <a:xfrm>
            <a:off x="4278675" y="4344675"/>
            <a:ext cx="2607600" cy="787500"/>
          </a:xfrm>
          <a:prstGeom prst="wedgeRoundRectCallout">
            <a:avLst>
              <a:gd fmla="val -15788" name="adj1"/>
              <a:gd fmla="val -100924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출력층 뉴런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출력층 output layer (</a:t>
            </a:r>
            <a:endParaRPr sz="1700"/>
          </a:p>
        </p:txBody>
      </p:sp>
      <p:sp>
        <p:nvSpPr>
          <p:cNvPr id="123" name="Google Shape;123;p14"/>
          <p:cNvSpPr/>
          <p:nvPr/>
        </p:nvSpPr>
        <p:spPr>
          <a:xfrm>
            <a:off x="4825300" y="1231925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4825300" y="1841525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4825300" y="546125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4825300" y="3213125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z10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6293300" y="602525"/>
            <a:ext cx="677700" cy="3336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latin typeface="Open Sans"/>
                <a:ea typeface="Open Sans"/>
                <a:cs typeface="Open Sans"/>
                <a:sym typeface="Open Sans"/>
              </a:rPr>
              <a:t>소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latin typeface="Open Sans"/>
                <a:ea typeface="Open Sans"/>
                <a:cs typeface="Open Sans"/>
                <a:sym typeface="Open Sans"/>
              </a:rPr>
              <a:t>프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latin typeface="Open Sans"/>
                <a:ea typeface="Open Sans"/>
                <a:cs typeface="Open Sans"/>
                <a:sym typeface="Open Sans"/>
              </a:rPr>
              <a:t>트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latin typeface="Open Sans"/>
                <a:ea typeface="Open Sans"/>
                <a:cs typeface="Open Sans"/>
                <a:sym typeface="Open Sans"/>
              </a:rPr>
              <a:t>맥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latin typeface="Open Sans"/>
                <a:ea typeface="Open Sans"/>
                <a:cs typeface="Open Sans"/>
                <a:sym typeface="Open Sans"/>
              </a:rPr>
              <a:t>스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7" name="Google Shape;127;p14"/>
          <p:cNvCxnSpPr/>
          <p:nvPr/>
        </p:nvCxnSpPr>
        <p:spPr>
          <a:xfrm>
            <a:off x="5410600" y="838775"/>
            <a:ext cx="804900" cy="11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4"/>
          <p:cNvCxnSpPr/>
          <p:nvPr/>
        </p:nvCxnSpPr>
        <p:spPr>
          <a:xfrm flipH="1" rot="10800000">
            <a:off x="5410600" y="1522175"/>
            <a:ext cx="761700" cy="24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4"/>
          <p:cNvCxnSpPr/>
          <p:nvPr/>
        </p:nvCxnSpPr>
        <p:spPr>
          <a:xfrm>
            <a:off x="5410600" y="2134175"/>
            <a:ext cx="787200" cy="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4"/>
          <p:cNvCxnSpPr/>
          <p:nvPr/>
        </p:nvCxnSpPr>
        <p:spPr>
          <a:xfrm>
            <a:off x="5410600" y="3505775"/>
            <a:ext cx="804900" cy="11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4"/>
          <p:cNvCxnSpPr/>
          <p:nvPr/>
        </p:nvCxnSpPr>
        <p:spPr>
          <a:xfrm flipH="1" rot="10800000">
            <a:off x="7132300" y="925925"/>
            <a:ext cx="6774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4"/>
          <p:cNvCxnSpPr/>
          <p:nvPr/>
        </p:nvCxnSpPr>
        <p:spPr>
          <a:xfrm flipH="1" rot="10800000">
            <a:off x="7132300" y="1535525"/>
            <a:ext cx="6774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4"/>
          <p:cNvCxnSpPr/>
          <p:nvPr/>
        </p:nvCxnSpPr>
        <p:spPr>
          <a:xfrm flipH="1" rot="10800000">
            <a:off x="7132300" y="2145125"/>
            <a:ext cx="6774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4"/>
          <p:cNvCxnSpPr/>
          <p:nvPr/>
        </p:nvCxnSpPr>
        <p:spPr>
          <a:xfrm flipH="1" rot="10800000">
            <a:off x="7132300" y="3592925"/>
            <a:ext cx="6774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14"/>
          <p:cNvSpPr txBox="1"/>
          <p:nvPr/>
        </p:nvSpPr>
        <p:spPr>
          <a:xfrm>
            <a:off x="4988850" y="2527325"/>
            <a:ext cx="31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chemeClr val="dk2"/>
                </a:solidFill>
              </a:rPr>
              <a:t>.</a:t>
            </a:r>
            <a:endParaRPr b="1" baseline="-25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chemeClr val="dk2"/>
                </a:solidFill>
              </a:rPr>
              <a:t>.</a:t>
            </a:r>
            <a:endParaRPr b="1" baseline="-25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8300500" y="2002200"/>
            <a:ext cx="313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chemeClr val="dk2"/>
                </a:solidFill>
              </a:rPr>
              <a:t>.</a:t>
            </a:r>
            <a:endParaRPr b="1" baseline="-25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chemeClr val="dk2"/>
                </a:solidFill>
              </a:rPr>
              <a:t>.</a:t>
            </a:r>
            <a:endParaRPr b="1" baseline="-25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chemeClr val="dk2"/>
                </a:solidFill>
              </a:rPr>
              <a:t>.</a:t>
            </a:r>
            <a:endParaRPr b="1" baseline="-25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1509175" y="133450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1509175" y="285850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x783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1509175" y="346810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x784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1509175" y="64870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3821400" y="14575"/>
            <a:ext cx="532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FashionMNISt 분류 문제를 인공 신경망으로 표현해 보도록 하자</a:t>
            </a:r>
            <a:endParaRPr sz="12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1621900" y="2096500"/>
            <a:ext cx="31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chemeClr val="dk2"/>
                </a:solidFill>
              </a:rPr>
              <a:t>.</a:t>
            </a:r>
            <a:endParaRPr b="1" baseline="-25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chemeClr val="dk2"/>
                </a:solidFill>
              </a:rPr>
              <a:t>.</a:t>
            </a:r>
            <a:endParaRPr b="1" baseline="-25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/>
          <p:nvPr/>
        </p:nvSpPr>
        <p:spPr>
          <a:xfrm>
            <a:off x="1735050" y="34245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735050" y="95205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1735050" y="156165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1735050" y="361905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X784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47" name="Google Shape;147;p15"/>
          <p:cNvGraphicFramePr/>
          <p:nvPr/>
        </p:nvGraphicFramePr>
        <p:xfrm>
          <a:off x="1024375" y="36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{7902132A-6F9C-4331-A587-A4FF0F97318F}</a:tableStyleId>
              </a:tblPr>
              <a:tblGrid>
                <a:gridCol w="412925"/>
              </a:tblGrid>
              <a:tr h="52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px1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52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px2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52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px3</a:t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67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.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.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.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0" marB="0" marR="0" marL="0" anchor="ctr"/>
                </a:tc>
              </a:tr>
              <a:tr h="52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52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0" marB="0" marR="0" marL="0" anchor="ctr"/>
                </a:tc>
              </a:tr>
              <a:tr h="52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px784</a:t>
                      </a:r>
                      <a:endParaRPr sz="9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48" name="Google Shape;148;p15"/>
          <p:cNvSpPr/>
          <p:nvPr/>
        </p:nvSpPr>
        <p:spPr>
          <a:xfrm>
            <a:off x="1905900" y="2349900"/>
            <a:ext cx="2436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5468850" y="1485450"/>
            <a:ext cx="585300" cy="585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5468850" y="875850"/>
            <a:ext cx="585300" cy="585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5468850" y="2095050"/>
            <a:ext cx="585300" cy="585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5468850" y="3009450"/>
            <a:ext cx="585300" cy="585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z10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5639700" y="2539650"/>
            <a:ext cx="243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6521075" y="567000"/>
            <a:ext cx="677700" cy="3336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latin typeface="Open Sans"/>
                <a:ea typeface="Open Sans"/>
                <a:cs typeface="Open Sans"/>
                <a:sym typeface="Open Sans"/>
              </a:rPr>
              <a:t>소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latin typeface="Open Sans"/>
                <a:ea typeface="Open Sans"/>
                <a:cs typeface="Open Sans"/>
                <a:sym typeface="Open Sans"/>
              </a:rPr>
              <a:t>프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latin typeface="Open Sans"/>
                <a:ea typeface="Open Sans"/>
                <a:cs typeface="Open Sans"/>
                <a:sym typeface="Open Sans"/>
              </a:rPr>
              <a:t>트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latin typeface="Open Sans"/>
                <a:ea typeface="Open Sans"/>
                <a:cs typeface="Open Sans"/>
                <a:sym typeface="Open Sans"/>
              </a:rPr>
              <a:t>맥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latin typeface="Open Sans"/>
                <a:ea typeface="Open Sans"/>
                <a:cs typeface="Open Sans"/>
                <a:sym typeface="Open Sans"/>
              </a:rPr>
              <a:t>스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5" name="Google Shape;155;p15"/>
          <p:cNvCxnSpPr/>
          <p:nvPr/>
        </p:nvCxnSpPr>
        <p:spPr>
          <a:xfrm flipH="1" rot="10800000">
            <a:off x="6008250" y="1156350"/>
            <a:ext cx="415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5"/>
          <p:cNvCxnSpPr/>
          <p:nvPr/>
        </p:nvCxnSpPr>
        <p:spPr>
          <a:xfrm flipH="1" rot="10800000">
            <a:off x="6008250" y="1777500"/>
            <a:ext cx="415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5"/>
          <p:cNvCxnSpPr/>
          <p:nvPr/>
        </p:nvCxnSpPr>
        <p:spPr>
          <a:xfrm flipH="1" rot="10800000">
            <a:off x="6008250" y="2373725"/>
            <a:ext cx="415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5"/>
          <p:cNvCxnSpPr/>
          <p:nvPr/>
        </p:nvCxnSpPr>
        <p:spPr>
          <a:xfrm flipH="1" rot="10800000">
            <a:off x="6043370" y="3211925"/>
            <a:ext cx="415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5"/>
          <p:cNvCxnSpPr/>
          <p:nvPr/>
        </p:nvCxnSpPr>
        <p:spPr>
          <a:xfrm flipH="1" rot="10800000">
            <a:off x="7064500" y="1156350"/>
            <a:ext cx="6774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5"/>
          <p:cNvCxnSpPr/>
          <p:nvPr/>
        </p:nvCxnSpPr>
        <p:spPr>
          <a:xfrm flipH="1" rot="10800000">
            <a:off x="7140700" y="1853775"/>
            <a:ext cx="6774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15"/>
          <p:cNvCxnSpPr/>
          <p:nvPr/>
        </p:nvCxnSpPr>
        <p:spPr>
          <a:xfrm flipH="1" rot="10800000">
            <a:off x="7064500" y="2387100"/>
            <a:ext cx="6774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15"/>
          <p:cNvCxnSpPr/>
          <p:nvPr/>
        </p:nvCxnSpPr>
        <p:spPr>
          <a:xfrm flipH="1" rot="10800000">
            <a:off x="7140700" y="3211925"/>
            <a:ext cx="6774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15"/>
          <p:cNvSpPr txBox="1"/>
          <p:nvPr/>
        </p:nvSpPr>
        <p:spPr>
          <a:xfrm>
            <a:off x="7371325" y="1479150"/>
            <a:ext cx="58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a2</a:t>
            </a:r>
            <a:endParaRPr sz="1200"/>
          </a:p>
        </p:txBody>
      </p:sp>
      <p:sp>
        <p:nvSpPr>
          <p:cNvPr id="164" name="Google Shape;164;p15"/>
          <p:cNvSpPr txBox="1"/>
          <p:nvPr/>
        </p:nvSpPr>
        <p:spPr>
          <a:xfrm>
            <a:off x="7371325" y="717150"/>
            <a:ext cx="58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a1</a:t>
            </a:r>
            <a:endParaRPr sz="1200"/>
          </a:p>
        </p:txBody>
      </p:sp>
      <p:sp>
        <p:nvSpPr>
          <p:cNvPr id="165" name="Google Shape;165;p15"/>
          <p:cNvSpPr txBox="1"/>
          <p:nvPr/>
        </p:nvSpPr>
        <p:spPr>
          <a:xfrm>
            <a:off x="7371325" y="2012550"/>
            <a:ext cx="58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a3</a:t>
            </a:r>
            <a:endParaRPr sz="1200"/>
          </a:p>
        </p:txBody>
      </p:sp>
      <p:sp>
        <p:nvSpPr>
          <p:cNvPr id="166" name="Google Shape;166;p15"/>
          <p:cNvSpPr txBox="1"/>
          <p:nvPr/>
        </p:nvSpPr>
        <p:spPr>
          <a:xfrm>
            <a:off x="7371325" y="2850750"/>
            <a:ext cx="58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a10</a:t>
            </a:r>
            <a:endParaRPr sz="1200"/>
          </a:p>
        </p:txBody>
      </p:sp>
      <p:sp>
        <p:nvSpPr>
          <p:cNvPr id="167" name="Google Shape;167;p15"/>
          <p:cNvSpPr/>
          <p:nvPr/>
        </p:nvSpPr>
        <p:spPr>
          <a:xfrm>
            <a:off x="7288425" y="2425800"/>
            <a:ext cx="243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3487650" y="875850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3487650" y="1485450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3487650" y="3238050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h100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487650" y="2095050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658500" y="2692050"/>
            <a:ext cx="243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3" name="Google Shape;173;p15"/>
          <p:cNvCxnSpPr/>
          <p:nvPr/>
        </p:nvCxnSpPr>
        <p:spPr>
          <a:xfrm>
            <a:off x="2320350" y="635100"/>
            <a:ext cx="1167300" cy="5334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5"/>
          <p:cNvCxnSpPr/>
          <p:nvPr/>
        </p:nvCxnSpPr>
        <p:spPr>
          <a:xfrm>
            <a:off x="2320350" y="635100"/>
            <a:ext cx="1167300" cy="11430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5"/>
          <p:cNvCxnSpPr/>
          <p:nvPr/>
        </p:nvCxnSpPr>
        <p:spPr>
          <a:xfrm>
            <a:off x="2320350" y="635100"/>
            <a:ext cx="1167300" cy="1752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5"/>
          <p:cNvCxnSpPr/>
          <p:nvPr/>
        </p:nvCxnSpPr>
        <p:spPr>
          <a:xfrm>
            <a:off x="2320350" y="635100"/>
            <a:ext cx="1167300" cy="2895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5"/>
          <p:cNvCxnSpPr/>
          <p:nvPr/>
        </p:nvCxnSpPr>
        <p:spPr>
          <a:xfrm flipH="1" rot="10800000">
            <a:off x="2320350" y="1168500"/>
            <a:ext cx="1167300" cy="762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5"/>
          <p:cNvCxnSpPr/>
          <p:nvPr/>
        </p:nvCxnSpPr>
        <p:spPr>
          <a:xfrm>
            <a:off x="2320350" y="1244700"/>
            <a:ext cx="1167300" cy="5334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15"/>
          <p:cNvCxnSpPr/>
          <p:nvPr/>
        </p:nvCxnSpPr>
        <p:spPr>
          <a:xfrm>
            <a:off x="2320350" y="1244700"/>
            <a:ext cx="1167300" cy="11430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5"/>
          <p:cNvCxnSpPr/>
          <p:nvPr/>
        </p:nvCxnSpPr>
        <p:spPr>
          <a:xfrm>
            <a:off x="2320350" y="1244700"/>
            <a:ext cx="1167300" cy="22860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15"/>
          <p:cNvCxnSpPr/>
          <p:nvPr/>
        </p:nvCxnSpPr>
        <p:spPr>
          <a:xfrm flipH="1" rot="10800000">
            <a:off x="2320350" y="1168500"/>
            <a:ext cx="1167300" cy="6858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5"/>
          <p:cNvCxnSpPr/>
          <p:nvPr/>
        </p:nvCxnSpPr>
        <p:spPr>
          <a:xfrm flipH="1" rot="10800000">
            <a:off x="2320350" y="1778100"/>
            <a:ext cx="1167300" cy="762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5"/>
          <p:cNvCxnSpPr/>
          <p:nvPr/>
        </p:nvCxnSpPr>
        <p:spPr>
          <a:xfrm>
            <a:off x="2320350" y="1854300"/>
            <a:ext cx="1167300" cy="5334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5"/>
          <p:cNvCxnSpPr/>
          <p:nvPr/>
        </p:nvCxnSpPr>
        <p:spPr>
          <a:xfrm>
            <a:off x="2320350" y="1854300"/>
            <a:ext cx="1167300" cy="16764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5"/>
          <p:cNvCxnSpPr/>
          <p:nvPr/>
        </p:nvCxnSpPr>
        <p:spPr>
          <a:xfrm flipH="1" rot="10800000">
            <a:off x="2320350" y="1168500"/>
            <a:ext cx="1167300" cy="27432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5"/>
          <p:cNvCxnSpPr/>
          <p:nvPr/>
        </p:nvCxnSpPr>
        <p:spPr>
          <a:xfrm flipH="1" rot="10800000">
            <a:off x="2320350" y="1778100"/>
            <a:ext cx="1167300" cy="2133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5"/>
          <p:cNvCxnSpPr/>
          <p:nvPr/>
        </p:nvCxnSpPr>
        <p:spPr>
          <a:xfrm flipH="1" rot="10800000">
            <a:off x="2320350" y="2387700"/>
            <a:ext cx="1167300" cy="15240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5"/>
          <p:cNvCxnSpPr/>
          <p:nvPr/>
        </p:nvCxnSpPr>
        <p:spPr>
          <a:xfrm flipH="1" rot="10800000">
            <a:off x="2320350" y="3530700"/>
            <a:ext cx="1167300" cy="3810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5"/>
          <p:cNvCxnSpPr/>
          <p:nvPr/>
        </p:nvCxnSpPr>
        <p:spPr>
          <a:xfrm>
            <a:off x="4072950" y="1168500"/>
            <a:ext cx="1395900" cy="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5"/>
          <p:cNvCxnSpPr/>
          <p:nvPr/>
        </p:nvCxnSpPr>
        <p:spPr>
          <a:xfrm>
            <a:off x="4072950" y="1168500"/>
            <a:ext cx="1395900" cy="609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5"/>
          <p:cNvCxnSpPr/>
          <p:nvPr/>
        </p:nvCxnSpPr>
        <p:spPr>
          <a:xfrm>
            <a:off x="4072950" y="1168500"/>
            <a:ext cx="1395900" cy="12192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5"/>
          <p:cNvCxnSpPr/>
          <p:nvPr/>
        </p:nvCxnSpPr>
        <p:spPr>
          <a:xfrm>
            <a:off x="4072950" y="1168500"/>
            <a:ext cx="1395900" cy="2133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5"/>
          <p:cNvCxnSpPr/>
          <p:nvPr/>
        </p:nvCxnSpPr>
        <p:spPr>
          <a:xfrm flipH="1" rot="10800000">
            <a:off x="4072950" y="1168500"/>
            <a:ext cx="1395900" cy="609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5"/>
          <p:cNvCxnSpPr/>
          <p:nvPr/>
        </p:nvCxnSpPr>
        <p:spPr>
          <a:xfrm flipH="1" rot="10800000">
            <a:off x="4072950" y="1168500"/>
            <a:ext cx="1395900" cy="12192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15"/>
          <p:cNvCxnSpPr/>
          <p:nvPr/>
        </p:nvCxnSpPr>
        <p:spPr>
          <a:xfrm flipH="1" rot="10800000">
            <a:off x="4072950" y="1778100"/>
            <a:ext cx="1395900" cy="609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15"/>
          <p:cNvCxnSpPr/>
          <p:nvPr/>
        </p:nvCxnSpPr>
        <p:spPr>
          <a:xfrm>
            <a:off x="4072950" y="2387700"/>
            <a:ext cx="1395900" cy="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15"/>
          <p:cNvCxnSpPr/>
          <p:nvPr/>
        </p:nvCxnSpPr>
        <p:spPr>
          <a:xfrm>
            <a:off x="4072950" y="2387700"/>
            <a:ext cx="1395900" cy="9144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15"/>
          <p:cNvCxnSpPr/>
          <p:nvPr/>
        </p:nvCxnSpPr>
        <p:spPr>
          <a:xfrm flipH="1" rot="10800000">
            <a:off x="4072950" y="1168500"/>
            <a:ext cx="1395900" cy="23622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15"/>
          <p:cNvCxnSpPr/>
          <p:nvPr/>
        </p:nvCxnSpPr>
        <p:spPr>
          <a:xfrm flipH="1" rot="10800000">
            <a:off x="4072950" y="1778100"/>
            <a:ext cx="1395900" cy="1752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15"/>
          <p:cNvCxnSpPr/>
          <p:nvPr/>
        </p:nvCxnSpPr>
        <p:spPr>
          <a:xfrm flipH="1" rot="10800000">
            <a:off x="4072950" y="2387700"/>
            <a:ext cx="1395900" cy="11430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15"/>
          <p:cNvCxnSpPr/>
          <p:nvPr/>
        </p:nvCxnSpPr>
        <p:spPr>
          <a:xfrm flipH="1" rot="10800000">
            <a:off x="4072950" y="3302100"/>
            <a:ext cx="1395900" cy="228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15"/>
          <p:cNvSpPr/>
          <p:nvPr/>
        </p:nvSpPr>
        <p:spPr>
          <a:xfrm>
            <a:off x="1077975" y="4419575"/>
            <a:ext cx="1925400" cy="549300"/>
          </a:xfrm>
          <a:prstGeom prst="wedgeRoundRectCallout">
            <a:avLst>
              <a:gd fmla="val -17740" name="adj1"/>
              <a:gd fmla="val -8934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입력층 Input Layer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(784개)</a:t>
            </a:r>
            <a:endParaRPr sz="1700"/>
          </a:p>
        </p:txBody>
      </p:sp>
      <p:sp>
        <p:nvSpPr>
          <p:cNvPr id="203" name="Google Shape;203;p15"/>
          <p:cNvSpPr/>
          <p:nvPr/>
        </p:nvSpPr>
        <p:spPr>
          <a:xfrm>
            <a:off x="5514675" y="4298550"/>
            <a:ext cx="2442000" cy="549300"/>
          </a:xfrm>
          <a:prstGeom prst="wedgeRoundRectCallout">
            <a:avLst>
              <a:gd fmla="val -28140" name="adj1"/>
              <a:gd fmla="val -124745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출력층 output layer  (10개의 뉴런)</a:t>
            </a:r>
            <a:endParaRPr sz="1700"/>
          </a:p>
        </p:txBody>
      </p:sp>
      <p:sp>
        <p:nvSpPr>
          <p:cNvPr id="204" name="Google Shape;204;p15"/>
          <p:cNvSpPr/>
          <p:nvPr/>
        </p:nvSpPr>
        <p:spPr>
          <a:xfrm>
            <a:off x="3296325" y="4298550"/>
            <a:ext cx="1925400" cy="549300"/>
          </a:xfrm>
          <a:prstGeom prst="wedgeRoundRectCallout">
            <a:avLst>
              <a:gd fmla="val -17740" name="adj1"/>
              <a:gd fmla="val -8934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은닉층 hidden layer  (100개)</a:t>
            </a:r>
            <a:endParaRPr sz="1700"/>
          </a:p>
        </p:txBody>
      </p:sp>
      <p:sp>
        <p:nvSpPr>
          <p:cNvPr id="205" name="Google Shape;205;p15"/>
          <p:cNvSpPr/>
          <p:nvPr/>
        </p:nvSpPr>
        <p:spPr>
          <a:xfrm>
            <a:off x="3990975" y="1023300"/>
            <a:ext cx="243600" cy="2904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3990975" y="1559175"/>
            <a:ext cx="243600" cy="2904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3990975" y="2204400"/>
            <a:ext cx="243600" cy="2904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3990975" y="3385500"/>
            <a:ext cx="243600" cy="2904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3296325" y="162000"/>
            <a:ext cx="1347600" cy="549300"/>
          </a:xfrm>
          <a:prstGeom prst="wedgeRoundRectCallout">
            <a:avLst>
              <a:gd fmla="val 11010" name="adj1"/>
              <a:gd fmla="val 95681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은닉층 뉴런의 활성화 함수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